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Lst>
  <p:notesMasterIdLst>
    <p:notesMasterId r:id="rId36"/>
  </p:notesMasterIdLst>
  <p:sldIdLst>
    <p:sldId id="1864" r:id="rId5"/>
    <p:sldId id="1846" r:id="rId6"/>
    <p:sldId id="1870" r:id="rId7"/>
    <p:sldId id="1871" r:id="rId8"/>
    <p:sldId id="1872" r:id="rId9"/>
    <p:sldId id="1873" r:id="rId10"/>
    <p:sldId id="1874" r:id="rId11"/>
    <p:sldId id="1875" r:id="rId12"/>
    <p:sldId id="1869" r:id="rId13"/>
    <p:sldId id="1868" r:id="rId14"/>
    <p:sldId id="1876" r:id="rId15"/>
    <p:sldId id="1891" r:id="rId16"/>
    <p:sldId id="1848" r:id="rId17"/>
    <p:sldId id="1849" r:id="rId18"/>
    <p:sldId id="1866" r:id="rId19"/>
    <p:sldId id="1852" r:id="rId20"/>
    <p:sldId id="1878" r:id="rId21"/>
    <p:sldId id="1865" r:id="rId22"/>
    <p:sldId id="1877" r:id="rId23"/>
    <p:sldId id="1879" r:id="rId24"/>
    <p:sldId id="1880" r:id="rId25"/>
    <p:sldId id="1881" r:id="rId26"/>
    <p:sldId id="1883" r:id="rId27"/>
    <p:sldId id="1884" r:id="rId28"/>
    <p:sldId id="1885" r:id="rId29"/>
    <p:sldId id="1886" r:id="rId30"/>
    <p:sldId id="1887" r:id="rId31"/>
    <p:sldId id="1889" r:id="rId32"/>
    <p:sldId id="1888" r:id="rId33"/>
    <p:sldId id="1890" r:id="rId34"/>
    <p:sldId id="1867" r:id="rId35"/>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80" userDrawn="1">
          <p15:clr>
            <a:srgbClr val="A4A3A4"/>
          </p15:clr>
        </p15:guide>
        <p15:guide id="3" pos="7200" userDrawn="1">
          <p15:clr>
            <a:srgbClr val="A4A3A4"/>
          </p15:clr>
        </p15:guide>
        <p15:guide id="4" pos="4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607"/>
    <a:srgbClr val="FE4387"/>
    <a:srgbClr val="FF2625"/>
    <a:srgbClr val="007788"/>
    <a:srgbClr val="297C2A"/>
    <a:srgbClr val="F69000"/>
    <a:srgbClr val="01C2D1"/>
    <a:srgbClr val="D6D734"/>
    <a:srgbClr val="005C68"/>
    <a:srgbClr val="3B2E58"/>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24" autoAdjust="0"/>
  </p:normalViewPr>
  <p:slideViewPr>
    <p:cSldViewPr snapToGrid="0">
      <p:cViewPr varScale="1">
        <p:scale>
          <a:sx n="59" d="100"/>
          <a:sy n="59" d="100"/>
        </p:scale>
        <p:origin x="964" y="52"/>
      </p:cViewPr>
      <p:guideLst>
        <p:guide orient="horz" pos="2160"/>
        <p:guide pos="480"/>
        <p:guide pos="7200"/>
        <p:guide pos="4368"/>
      </p:guideLst>
    </p:cSldViewPr>
  </p:slideViewPr>
  <p:notesTextViewPr>
    <p:cViewPr>
      <p:scale>
        <a:sx n="1" d="1"/>
        <a:sy n="1" d="1"/>
      </p:scale>
      <p:origin x="0" y="0"/>
    </p:cViewPr>
  </p:notesTextViewPr>
  <p:sorterViewPr>
    <p:cViewPr>
      <p:scale>
        <a:sx n="94" d="100"/>
        <a:sy n="94"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9F622F8-1824-4338-8C3C-5529D3BDEF4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dirty="0"/>
          </a:p>
        </p:txBody>
      </p:sp>
      <p:sp>
        <p:nvSpPr>
          <p:cNvPr id="30723" name="Rectangle 3">
            <a:extLst>
              <a:ext uri="{FF2B5EF4-FFF2-40B4-BE49-F238E27FC236}">
                <a16:creationId xmlns:a16="http://schemas.microsoft.com/office/drawing/2014/main" id="{618DDD53-BB38-4118-BC75-9CE27D49C55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dirty="0"/>
          </a:p>
        </p:txBody>
      </p:sp>
      <p:sp>
        <p:nvSpPr>
          <p:cNvPr id="14340" name="Rectangle 4">
            <a:extLst>
              <a:ext uri="{FF2B5EF4-FFF2-40B4-BE49-F238E27FC236}">
                <a16:creationId xmlns:a16="http://schemas.microsoft.com/office/drawing/2014/main" id="{6C03B6F7-B1AE-4118-ABA2-FFEC9B8F0E9C}"/>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a:extLst>
              <a:ext uri="{FF2B5EF4-FFF2-40B4-BE49-F238E27FC236}">
                <a16:creationId xmlns:a16="http://schemas.microsoft.com/office/drawing/2014/main" id="{646F5356-BDE8-43C1-9587-85323D02B19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89912C35-11A9-4DA7-8476-F1823F658CA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dirty="0"/>
          </a:p>
        </p:txBody>
      </p:sp>
      <p:sp>
        <p:nvSpPr>
          <p:cNvPr id="30727" name="Rectangle 7">
            <a:extLst>
              <a:ext uri="{FF2B5EF4-FFF2-40B4-BE49-F238E27FC236}">
                <a16:creationId xmlns:a16="http://schemas.microsoft.com/office/drawing/2014/main" id="{7180ED79-CEC3-4FB9-B511-8597B20A0C1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DEB7EE2-04A2-4FB2-9625-C9C73AC4D32F}"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A4671F7-4D2C-4B1E-AED7-24676BE8B4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7842D7-C728-4EBD-982B-B8BE79E4DBBE}" type="slidenum">
              <a:rPr lang="en-US" altLang="en-US"/>
              <a:pPr eaLnBrk="1" hangingPunct="1"/>
              <a:t>1</a:t>
            </a:fld>
            <a:endParaRPr lang="en-US" altLang="en-US" dirty="0"/>
          </a:p>
        </p:txBody>
      </p:sp>
      <p:sp>
        <p:nvSpPr>
          <p:cNvPr id="15363" name="Rectangle 2">
            <a:extLst>
              <a:ext uri="{FF2B5EF4-FFF2-40B4-BE49-F238E27FC236}">
                <a16:creationId xmlns:a16="http://schemas.microsoft.com/office/drawing/2014/main" id="{D8E83BD0-7AE4-4323-9047-FC368929C520}"/>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FDECF5EC-C5EC-4723-8F4F-A75A20018F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50814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13</a:t>
            </a:fld>
            <a:endParaRPr lang="en-US" altLang="en-US" dirty="0"/>
          </a:p>
        </p:txBody>
      </p:sp>
    </p:spTree>
    <p:extLst>
      <p:ext uri="{BB962C8B-B14F-4D97-AF65-F5344CB8AC3E}">
        <p14:creationId xmlns:p14="http://schemas.microsoft.com/office/powerpoint/2010/main" val="1383417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DB60B1-BEF5-4848-BB02-98EBFE355C13}"/>
              </a:ext>
            </a:extLst>
          </p:cNvPr>
          <p:cNvPicPr>
            <a:picLocks noChangeAspect="1"/>
          </p:cNvPicPr>
          <p:nvPr userDrawn="1"/>
        </p:nvPicPr>
        <p:blipFill>
          <a:blip r:embed="rId2"/>
          <a:srcRect/>
          <a:stretch/>
        </p:blipFill>
        <p:spPr>
          <a:xfrm>
            <a:off x="0" y="1"/>
            <a:ext cx="12191998" cy="6857999"/>
          </a:xfrm>
          <a:prstGeom prst="rect">
            <a:avLst/>
          </a:prstGeom>
        </p:spPr>
      </p:pic>
      <p:sp>
        <p:nvSpPr>
          <p:cNvPr id="4" name="Title 3">
            <a:extLst>
              <a:ext uri="{FF2B5EF4-FFF2-40B4-BE49-F238E27FC236}">
                <a16:creationId xmlns:a16="http://schemas.microsoft.com/office/drawing/2014/main" id="{FE7964CB-E75A-4A03-88D3-6A48EF650A09}"/>
              </a:ext>
            </a:extLst>
          </p:cNvPr>
          <p:cNvSpPr>
            <a:spLocks noGrp="1"/>
          </p:cNvSpPr>
          <p:nvPr>
            <p:ph type="title" hasCustomPrompt="1"/>
          </p:nvPr>
        </p:nvSpPr>
        <p:spPr>
          <a:xfrm>
            <a:off x="5442012" y="2766219"/>
            <a:ext cx="6220101" cy="1325563"/>
          </a:xfrm>
          <a:prstGeom prst="rect">
            <a:avLst/>
          </a:prstGeom>
        </p:spPr>
        <p:txBody>
          <a:bodyPr/>
          <a:lstStyle>
            <a:lvl1pPr>
              <a:defRPr b="1"/>
            </a:lvl1pPr>
          </a:lstStyle>
          <a:p>
            <a:r>
              <a:rPr lang="en-US" dirty="0"/>
              <a:t>Insert title here</a:t>
            </a:r>
          </a:p>
        </p:txBody>
      </p:sp>
    </p:spTree>
    <p:extLst>
      <p:ext uri="{BB962C8B-B14F-4D97-AF65-F5344CB8AC3E}">
        <p14:creationId xmlns:p14="http://schemas.microsoft.com/office/powerpoint/2010/main" val="1440679267"/>
      </p:ext>
    </p:extLst>
  </p:cSld>
  <p:clrMapOvr>
    <a:masterClrMapping/>
  </p:clrMapOvr>
  <p:extLst>
    <p:ext uri="{DCECCB84-F9BA-43D5-87BE-67443E8EF086}">
      <p15:sldGuideLst xmlns:p15="http://schemas.microsoft.com/office/powerpoint/2012/main">
        <p15:guide id="1" pos="28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ight Patter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340929"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5" descr="Red, blue grey white pattern background">
            <a:extLst>
              <a:ext uri="{FF2B5EF4-FFF2-40B4-BE49-F238E27FC236}">
                <a16:creationId xmlns:a16="http://schemas.microsoft.com/office/drawing/2014/main" id="{8FD53BA4-73D2-4CCA-8580-11F4221524F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427166" y="0"/>
            <a:ext cx="4764834" cy="6858000"/>
          </a:xfrm>
          <a:prstGeom prst="rect">
            <a:avLst/>
          </a:prstGeom>
        </p:spPr>
      </p:pic>
    </p:spTree>
    <p:extLst>
      <p:ext uri="{BB962C8B-B14F-4D97-AF65-F5344CB8AC3E}">
        <p14:creationId xmlns:p14="http://schemas.microsoft.com/office/powerpoint/2010/main" val="172072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2"/>
        </a:solidFill>
        <a:effectLst/>
      </p:bgPr>
    </p:bg>
    <p:spTree>
      <p:nvGrpSpPr>
        <p:cNvPr id="1" name=""/>
        <p:cNvGrpSpPr/>
        <p:nvPr/>
      </p:nvGrpSpPr>
      <p:grpSpPr>
        <a:xfrm>
          <a:off x="0" y="0"/>
          <a:ext cx="0" cy="0"/>
          <a:chOff x="0" y="0"/>
          <a:chExt cx="0" cy="0"/>
        </a:xfrm>
      </p:grpSpPr>
      <p:pic>
        <p:nvPicPr>
          <p:cNvPr id="8" name="Picture Placeholder 6" descr="White Striped background">
            <a:extLst>
              <a:ext uri="{FF2B5EF4-FFF2-40B4-BE49-F238E27FC236}">
                <a16:creationId xmlns:a16="http://schemas.microsoft.com/office/drawing/2014/main" id="{3917D528-010E-4303-97BF-F7F67BC6612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324088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2"/>
                </a:solidFill>
              </a:defRPr>
            </a:lvl1pPr>
          </a:lstStyle>
          <a:p>
            <a:r>
              <a:rPr lang="en-US" dirty="0"/>
              <a:t>Insert title here</a:t>
            </a:r>
          </a:p>
        </p:txBody>
      </p:sp>
      <p:sp>
        <p:nvSpPr>
          <p:cNvPr id="10" name="Text Placeholder 15">
            <a:extLst>
              <a:ext uri="{FF2B5EF4-FFF2-40B4-BE49-F238E27FC236}">
                <a16:creationId xmlns:a16="http://schemas.microsoft.com/office/drawing/2014/main" id="{780F473D-F2DF-4163-AB6E-F7327F60EC4A}"/>
              </a:ext>
            </a:extLst>
          </p:cNvPr>
          <p:cNvSpPr>
            <a:spLocks noGrp="1"/>
          </p:cNvSpPr>
          <p:nvPr>
            <p:ph type="body" sz="quarter" idx="11" hasCustomPrompt="1"/>
          </p:nvPr>
        </p:nvSpPr>
        <p:spPr>
          <a:xfrm>
            <a:off x="762000" y="1432562"/>
            <a:ext cx="10667999" cy="1158237"/>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11" name="Table Placeholder 10">
            <a:extLst>
              <a:ext uri="{FF2B5EF4-FFF2-40B4-BE49-F238E27FC236}">
                <a16:creationId xmlns:a16="http://schemas.microsoft.com/office/drawing/2014/main" id="{7DC18506-6205-438F-AA5C-D337F9975FC3}"/>
              </a:ext>
            </a:extLst>
          </p:cNvPr>
          <p:cNvSpPr>
            <a:spLocks noGrp="1"/>
          </p:cNvSpPr>
          <p:nvPr>
            <p:ph type="tbl" sz="quarter" idx="12" hasCustomPrompt="1"/>
          </p:nvPr>
        </p:nvSpPr>
        <p:spPr>
          <a:xfrm>
            <a:off x="757381" y="2591662"/>
            <a:ext cx="10667999" cy="2833776"/>
          </a:xfrm>
          <a:prstGeom prst="rect">
            <a:avLst/>
          </a:prstGeom>
        </p:spPr>
        <p:txBody>
          <a:bodyPr/>
          <a:lstStyle>
            <a:lvl1pPr marL="0" indent="0">
              <a:buNone/>
              <a:defRPr sz="1800" b="0"/>
            </a:lvl1pPr>
          </a:lstStyle>
          <a:p>
            <a:r>
              <a:rPr lang="en-US" dirty="0"/>
              <a:t>Insert content here</a:t>
            </a:r>
          </a:p>
        </p:txBody>
      </p:sp>
      <p:pic>
        <p:nvPicPr>
          <p:cNvPr id="7" name="Picture Placeholder 5" descr="Red, blue grey white pattern background">
            <a:extLst>
              <a:ext uri="{FF2B5EF4-FFF2-40B4-BE49-F238E27FC236}">
                <a16:creationId xmlns:a16="http://schemas.microsoft.com/office/drawing/2014/main" id="{CD2D4C14-919B-45F8-8FB9-55AAC8A8FCF8}"/>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0252"/>
            <a:ext cx="12192000" cy="867748"/>
          </a:xfrm>
          <a:prstGeom prst="rect">
            <a:avLst/>
          </a:prstGeom>
        </p:spPr>
      </p:pic>
    </p:spTree>
    <p:extLst>
      <p:ext uri="{BB962C8B-B14F-4D97-AF65-F5344CB8AC3E}">
        <p14:creationId xmlns:p14="http://schemas.microsoft.com/office/powerpoint/2010/main" val="1422917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ft Pattern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1"/>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6" descr="Red, blue grey white pattern background">
            <a:extLst>
              <a:ext uri="{FF2B5EF4-FFF2-40B4-BE49-F238E27FC236}">
                <a16:creationId xmlns:a16="http://schemas.microsoft.com/office/drawing/2014/main" id="{3A82D859-AED3-485F-A04E-40320B1043AA}"/>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4767943" cy="6858000"/>
          </a:xfrm>
          <a:prstGeom prst="rect">
            <a:avLst/>
          </a:prstGeom>
        </p:spPr>
      </p:pic>
    </p:spTree>
    <p:extLst>
      <p:ext uri="{BB962C8B-B14F-4D97-AF65-F5344CB8AC3E}">
        <p14:creationId xmlns:p14="http://schemas.microsoft.com/office/powerpoint/2010/main" val="218987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3">
                    <a:lumMod val="75000"/>
                  </a:schemeClr>
                </a:solidFill>
              </a:defRPr>
            </a:lvl1pPr>
          </a:lstStyle>
          <a:p>
            <a:r>
              <a:rPr lang="en-US" dirty="0"/>
              <a:t>Insert title here</a:t>
            </a:r>
          </a:p>
        </p:txBody>
      </p:sp>
      <p:sp>
        <p:nvSpPr>
          <p:cNvPr id="7" name="Text Placeholder 15">
            <a:extLst>
              <a:ext uri="{FF2B5EF4-FFF2-40B4-BE49-F238E27FC236}">
                <a16:creationId xmlns:a16="http://schemas.microsoft.com/office/drawing/2014/main" id="{DF03C311-DDF4-44A3-9D51-D5FDC4A8E7B5}"/>
              </a:ext>
            </a:extLst>
          </p:cNvPr>
          <p:cNvSpPr>
            <a:spLocks noGrp="1"/>
          </p:cNvSpPr>
          <p:nvPr>
            <p:ph type="body" sz="quarter" idx="11" hasCustomPrompt="1"/>
          </p:nvPr>
        </p:nvSpPr>
        <p:spPr>
          <a:xfrm>
            <a:off x="762000" y="1432562"/>
            <a:ext cx="10667999" cy="927425"/>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8" name="SmartArt Placeholder 7">
            <a:extLst>
              <a:ext uri="{FF2B5EF4-FFF2-40B4-BE49-F238E27FC236}">
                <a16:creationId xmlns:a16="http://schemas.microsoft.com/office/drawing/2014/main" id="{9FD563C5-3DFB-47DD-8A9E-30D8084590F6}"/>
              </a:ext>
            </a:extLst>
          </p:cNvPr>
          <p:cNvSpPr>
            <a:spLocks noGrp="1"/>
          </p:cNvSpPr>
          <p:nvPr>
            <p:ph type="dgm" sz="quarter" idx="14" hasCustomPrompt="1"/>
          </p:nvPr>
        </p:nvSpPr>
        <p:spPr>
          <a:xfrm>
            <a:off x="762001" y="2369129"/>
            <a:ext cx="10667998" cy="3343657"/>
          </a:xfrm>
          <a:prstGeom prst="rect">
            <a:avLst/>
          </a:prstGeom>
        </p:spPr>
        <p:txBody>
          <a:bodyPr/>
          <a:lstStyle>
            <a:lvl1pPr marL="0" indent="0">
              <a:buNone/>
              <a:defRPr sz="1800" b="0"/>
            </a:lvl1pPr>
          </a:lstStyle>
          <a:p>
            <a:r>
              <a:rPr lang="en-US" dirty="0"/>
              <a:t>Insert Content here</a:t>
            </a:r>
          </a:p>
        </p:txBody>
      </p:sp>
      <p:pic>
        <p:nvPicPr>
          <p:cNvPr id="9" name="Picture Placeholder 8" descr="Red, blue grey white pattern background">
            <a:extLst>
              <a:ext uri="{FF2B5EF4-FFF2-40B4-BE49-F238E27FC236}">
                <a16:creationId xmlns:a16="http://schemas.microsoft.com/office/drawing/2014/main" id="{EFDBB6A3-9760-4B41-9E31-6D5DD396E16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9582"/>
            <a:ext cx="12192000" cy="858417"/>
          </a:xfrm>
          <a:prstGeom prst="rect">
            <a:avLst/>
          </a:prstGeom>
        </p:spPr>
      </p:pic>
    </p:spTree>
    <p:extLst>
      <p:ext uri="{BB962C8B-B14F-4D97-AF65-F5344CB8AC3E}">
        <p14:creationId xmlns:p14="http://schemas.microsoft.com/office/powerpoint/2010/main" val="4294626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Photo Conten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3F45076F-4240-4B40-8CE4-637DD751A68B}"/>
              </a:ext>
            </a:extLst>
          </p:cNvPr>
          <p:cNvSpPr>
            <a:spLocks noGrp="1"/>
          </p:cNvSpPr>
          <p:nvPr>
            <p:ph type="title" hasCustomPrompt="1"/>
          </p:nvPr>
        </p:nvSpPr>
        <p:spPr>
          <a:xfrm>
            <a:off x="762000" y="715963"/>
            <a:ext cx="5334000" cy="1189038"/>
          </a:xfrm>
          <a:prstGeom prst="rect">
            <a:avLst/>
          </a:prstGeom>
        </p:spPr>
        <p:txBody>
          <a:bodyPr anchor="t">
            <a:normAutofit/>
          </a:bodyPr>
          <a:lstStyle>
            <a:lvl1pPr>
              <a:spcBef>
                <a:spcPts val="1000"/>
              </a:spcBef>
              <a:defRPr sz="4000" b="1">
                <a:solidFill>
                  <a:schemeClr val="accent2"/>
                </a:solidFill>
              </a:defRPr>
            </a:lvl1pPr>
          </a:lstStyle>
          <a:p>
            <a:r>
              <a:rPr lang="en-US" dirty="0"/>
              <a:t>Insert title here</a:t>
            </a:r>
          </a:p>
        </p:txBody>
      </p:sp>
      <p:sp>
        <p:nvSpPr>
          <p:cNvPr id="16" name="Text Placeholder 15">
            <a:extLst>
              <a:ext uri="{FF2B5EF4-FFF2-40B4-BE49-F238E27FC236}">
                <a16:creationId xmlns:a16="http://schemas.microsoft.com/office/drawing/2014/main" id="{8498B63D-F60C-4A9D-8D3E-0C7CD748FEDE}"/>
              </a:ext>
            </a:extLst>
          </p:cNvPr>
          <p:cNvSpPr>
            <a:spLocks noGrp="1"/>
          </p:cNvSpPr>
          <p:nvPr>
            <p:ph type="body" sz="quarter" idx="11" hasCustomPrompt="1"/>
          </p:nvPr>
        </p:nvSpPr>
        <p:spPr>
          <a:xfrm>
            <a:off x="762000" y="1905000"/>
            <a:ext cx="5334000" cy="3276600"/>
          </a:xfrm>
          <a:prstGeom prst="rect">
            <a:avLst/>
          </a:prstGeom>
        </p:spPr>
        <p:txBody>
          <a:bodyPr/>
          <a:lstStyle>
            <a:lvl1pPr marL="0" indent="0">
              <a:lnSpc>
                <a:spcPct val="100000"/>
              </a:lnSpc>
              <a:buNone/>
              <a:defRPr sz="1800" b="1"/>
            </a:lvl1pPr>
            <a:lvl2pPr marL="228600">
              <a:lnSpc>
                <a:spcPct val="100000"/>
              </a:lnSpc>
              <a:spcBef>
                <a:spcPts val="1000"/>
              </a:spcBef>
              <a:defRPr sz="1800"/>
            </a:lvl2pPr>
          </a:lstStyle>
          <a:p>
            <a:pPr lvl="0"/>
            <a:r>
              <a:rPr lang="en-US" dirty="0"/>
              <a:t>Insert subtitle here</a:t>
            </a:r>
          </a:p>
          <a:p>
            <a:pPr lvl="1"/>
            <a:r>
              <a:rPr lang="en-US" dirty="0"/>
              <a:t>Insert content here</a:t>
            </a:r>
          </a:p>
        </p:txBody>
      </p:sp>
      <p:sp>
        <p:nvSpPr>
          <p:cNvPr id="9" name="Picture Placeholder 13">
            <a:extLst>
              <a:ext uri="{FF2B5EF4-FFF2-40B4-BE49-F238E27FC236}">
                <a16:creationId xmlns:a16="http://schemas.microsoft.com/office/drawing/2014/main" id="{827A95C0-AE8D-46E1-9EF9-64504CBEF99E}"/>
              </a:ext>
            </a:extLst>
          </p:cNvPr>
          <p:cNvSpPr>
            <a:spLocks noGrp="1"/>
          </p:cNvSpPr>
          <p:nvPr>
            <p:ph type="pic" sz="quarter" idx="14"/>
          </p:nvPr>
        </p:nvSpPr>
        <p:spPr>
          <a:xfrm>
            <a:off x="6858000" y="715963"/>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sp>
        <p:nvSpPr>
          <p:cNvPr id="8" name="Picture Placeholder 13">
            <a:extLst>
              <a:ext uri="{FF2B5EF4-FFF2-40B4-BE49-F238E27FC236}">
                <a16:creationId xmlns:a16="http://schemas.microsoft.com/office/drawing/2014/main" id="{89E410BA-B0FE-4F0E-8BE5-D33CC016635B}"/>
              </a:ext>
            </a:extLst>
          </p:cNvPr>
          <p:cNvSpPr>
            <a:spLocks noGrp="1"/>
          </p:cNvSpPr>
          <p:nvPr>
            <p:ph type="pic" sz="quarter" idx="13"/>
          </p:nvPr>
        </p:nvSpPr>
        <p:spPr>
          <a:xfrm>
            <a:off x="6858000" y="3305541"/>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pic>
        <p:nvPicPr>
          <p:cNvPr id="11" name="Picture Placeholder 5" descr="Red, blue grey white pattern background">
            <a:extLst>
              <a:ext uri="{FF2B5EF4-FFF2-40B4-BE49-F238E27FC236}">
                <a16:creationId xmlns:a16="http://schemas.microsoft.com/office/drawing/2014/main" id="{1014381E-E235-4624-9267-69EEEE9826F2}"/>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80922"/>
            <a:ext cx="12192000" cy="877078"/>
          </a:xfrm>
          <a:prstGeom prst="rect">
            <a:avLst/>
          </a:prstGeom>
        </p:spPr>
      </p:pic>
    </p:spTree>
    <p:extLst>
      <p:ext uri="{BB962C8B-B14F-4D97-AF65-F5344CB8AC3E}">
        <p14:creationId xmlns:p14="http://schemas.microsoft.com/office/powerpoint/2010/main" val="1586680172"/>
      </p:ext>
    </p:extLst>
  </p:cSld>
  <p:clrMapOvr>
    <a:masterClrMapping/>
  </p:clrMapOvr>
  <p:extLst>
    <p:ext uri="{DCECCB84-F9BA-43D5-87BE-67443E8EF086}">
      <p15:sldGuideLst xmlns:p15="http://schemas.microsoft.com/office/powerpoint/2012/main">
        <p15:guide id="1" orient="horz" pos="3672"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ght Pattern Content Gra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3">
                    <a:lumMod val="75000"/>
                  </a:schemeClr>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477000"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6" descr="Red, blue grey white pattern background">
            <a:extLst>
              <a:ext uri="{FF2B5EF4-FFF2-40B4-BE49-F238E27FC236}">
                <a16:creationId xmlns:a16="http://schemas.microsoft.com/office/drawing/2014/main" id="{6696C96D-182E-490E-A117-B60FF1853675}"/>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427166" y="0"/>
            <a:ext cx="4764834" cy="6858000"/>
          </a:xfrm>
          <a:prstGeom prst="rect">
            <a:avLst/>
          </a:prstGeom>
        </p:spPr>
      </p:pic>
    </p:spTree>
    <p:extLst>
      <p:ext uri="{BB962C8B-B14F-4D97-AF65-F5344CB8AC3E}">
        <p14:creationId xmlns:p14="http://schemas.microsoft.com/office/powerpoint/2010/main" val="395142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accent1"/>
        </a:solidFill>
        <a:effectLst/>
      </p:bgPr>
    </p:bg>
    <p:spTree>
      <p:nvGrpSpPr>
        <p:cNvPr id="1" name=""/>
        <p:cNvGrpSpPr/>
        <p:nvPr/>
      </p:nvGrpSpPr>
      <p:grpSpPr>
        <a:xfrm>
          <a:off x="0" y="0"/>
          <a:ext cx="0" cy="0"/>
          <a:chOff x="0" y="0"/>
          <a:chExt cx="0" cy="0"/>
        </a:xfrm>
      </p:grpSpPr>
      <p:pic>
        <p:nvPicPr>
          <p:cNvPr id="8" name="Picture Placeholder 6" descr="Picture placeholder ">
            <a:extLst>
              <a:ext uri="{FF2B5EF4-FFF2-40B4-BE49-F238E27FC236}">
                <a16:creationId xmlns:a16="http://schemas.microsoft.com/office/drawing/2014/main" id="{21F9B252-B7D4-4DA8-92E8-8A98BFEF41B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410071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7724906-4405-47F4-B533-7291B003B0A2}"/>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accent1"/>
                </a:solidFill>
                <a:effectLst/>
                <a:latin typeface="+mj-lt"/>
                <a:ea typeface="+mn-ea"/>
                <a:cs typeface="Segoe UI" pitchFamily="34" charset="0"/>
              </a:defRPr>
            </a:lvl1pPr>
          </a:lstStyle>
          <a:p>
            <a:r>
              <a:rPr lang="en-US" dirty="0"/>
              <a:t>Insert title here</a:t>
            </a:r>
          </a:p>
        </p:txBody>
      </p:sp>
      <p:sp>
        <p:nvSpPr>
          <p:cNvPr id="14" name="Text Placeholder 4">
            <a:extLst>
              <a:ext uri="{FF2B5EF4-FFF2-40B4-BE49-F238E27FC236}">
                <a16:creationId xmlns:a16="http://schemas.microsoft.com/office/drawing/2014/main" id="{1EEF53A4-35A6-4E43-B220-67DA381C5910}"/>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bg1"/>
                </a:solidFill>
                <a:latin typeface="+mn-lt"/>
                <a:ea typeface="+mn-ea"/>
                <a:cs typeface="+mn-cs"/>
              </a:defRPr>
            </a:lvl1pPr>
          </a:lstStyle>
          <a:p>
            <a:pPr lvl="0"/>
            <a:r>
              <a:rPr lang="en-US" dirty="0"/>
              <a:t>Insert content here</a:t>
            </a:r>
          </a:p>
        </p:txBody>
      </p:sp>
      <p:pic>
        <p:nvPicPr>
          <p:cNvPr id="6" name="Picture Placeholder 5" descr="Red, blue grey white pattern background">
            <a:extLst>
              <a:ext uri="{FF2B5EF4-FFF2-40B4-BE49-F238E27FC236}">
                <a16:creationId xmlns:a16="http://schemas.microsoft.com/office/drawing/2014/main" id="{906BF34F-6945-4E11-BAEC-F66F7254C4C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9582"/>
            <a:ext cx="12192000" cy="858417"/>
          </a:xfrm>
          <a:prstGeom prst="rect">
            <a:avLst/>
          </a:prstGeom>
        </p:spPr>
      </p:pic>
    </p:spTree>
    <p:extLst>
      <p:ext uri="{BB962C8B-B14F-4D97-AF65-F5344CB8AC3E}">
        <p14:creationId xmlns:p14="http://schemas.microsoft.com/office/powerpoint/2010/main" val="495523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ft Pattern Content Blue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6" descr="Red, blue grey white pattern background">
            <a:extLst>
              <a:ext uri="{FF2B5EF4-FFF2-40B4-BE49-F238E27FC236}">
                <a16:creationId xmlns:a16="http://schemas.microsoft.com/office/drawing/2014/main" id="{BC85C715-EF0D-4E33-AC89-C35DD2596E5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4767943" cy="6858000"/>
          </a:xfrm>
          <a:prstGeom prst="rect">
            <a:avLst/>
          </a:prstGeom>
        </p:spPr>
      </p:pic>
    </p:spTree>
    <p:extLst>
      <p:ext uri="{BB962C8B-B14F-4D97-AF65-F5344CB8AC3E}">
        <p14:creationId xmlns:p14="http://schemas.microsoft.com/office/powerpoint/2010/main" val="84037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9690444"/>
      </p:ext>
    </p:extLst>
  </p:cSld>
  <p:clrMap bg1="dk1" tx1="lt1" bg2="dk2" tx2="lt2" accent1="accent1" accent2="accent2" accent3="accent3" accent4="accent4" accent5="accent5" accent6="accent6" hlink="hlink" folHlink="folHlink"/>
  <p:sldLayoutIdLst>
    <p:sldLayoutId id="2147483689" r:id="rId1"/>
    <p:sldLayoutId id="2147483699" r:id="rId2"/>
    <p:sldLayoutId id="2147483700" r:id="rId3"/>
    <p:sldLayoutId id="2147483691" r:id="rId4"/>
    <p:sldLayoutId id="2147483701" r:id="rId5"/>
    <p:sldLayoutId id="2147483706" r:id="rId6"/>
    <p:sldLayoutId id="2147483702" r:id="rId7"/>
    <p:sldLayoutId id="2147483704" r:id="rId8"/>
    <p:sldLayoutId id="2147483703" r:id="rId9"/>
    <p:sldLayoutId id="2147483690" r:id="rId10"/>
    <p:sldLayoutId id="2147483708"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D2DB031-9003-4F74-A88F-FE2A2ABABC72}"/>
              </a:ext>
            </a:extLst>
          </p:cNvPr>
          <p:cNvSpPr>
            <a:spLocks noGrp="1" noChangeArrowheads="1"/>
          </p:cNvSpPr>
          <p:nvPr>
            <p:ph type="title"/>
          </p:nvPr>
        </p:nvSpPr>
        <p:spPr>
          <a:xfrm>
            <a:off x="4800600" y="2111829"/>
            <a:ext cx="6861513" cy="1979953"/>
          </a:xfrm>
        </p:spPr>
        <p:txBody>
          <a:bodyPr anchor="ctr">
            <a:noAutofit/>
          </a:bodyPr>
          <a:lstStyle/>
          <a:p>
            <a:r>
              <a:rPr lang="en-US" altLang="en-US" dirty="0">
                <a:solidFill>
                  <a:schemeClr val="accent2"/>
                </a:solidFill>
              </a:rPr>
              <a:t>Modelling Customer Churn for Internet Service Provider</a:t>
            </a:r>
            <a:endParaRPr lang="en-US" altLang="en-US" dirty="0"/>
          </a:p>
        </p:txBody>
      </p:sp>
    </p:spTree>
    <p:extLst>
      <p:ext uri="{BB962C8B-B14F-4D97-AF65-F5344CB8AC3E}">
        <p14:creationId xmlns:p14="http://schemas.microsoft.com/office/powerpoint/2010/main" val="1543265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BA0B6F-5258-479C-87B7-C806E6757035}"/>
              </a:ext>
            </a:extLst>
          </p:cNvPr>
          <p:cNvSpPr>
            <a:spLocks noGrp="1"/>
          </p:cNvSpPr>
          <p:nvPr>
            <p:ph type="title"/>
          </p:nvPr>
        </p:nvSpPr>
        <p:spPr>
          <a:xfrm>
            <a:off x="762000" y="715961"/>
            <a:ext cx="6477000" cy="764496"/>
          </a:xfrm>
        </p:spPr>
        <p:txBody>
          <a:bodyPr/>
          <a:lstStyle/>
          <a:p>
            <a:r>
              <a:rPr lang="en-US" dirty="0"/>
              <a:t>Introduction</a:t>
            </a:r>
          </a:p>
        </p:txBody>
      </p:sp>
      <p:sp>
        <p:nvSpPr>
          <p:cNvPr id="2" name="Text Placeholder 1">
            <a:extLst>
              <a:ext uri="{FF2B5EF4-FFF2-40B4-BE49-F238E27FC236}">
                <a16:creationId xmlns:a16="http://schemas.microsoft.com/office/drawing/2014/main" id="{3F36812B-2065-4A2B-B59B-8957022687BC}"/>
              </a:ext>
            </a:extLst>
          </p:cNvPr>
          <p:cNvSpPr>
            <a:spLocks noGrp="1"/>
          </p:cNvSpPr>
          <p:nvPr>
            <p:ph type="body" sz="quarter" idx="11"/>
          </p:nvPr>
        </p:nvSpPr>
        <p:spPr>
          <a:xfrm>
            <a:off x="762000" y="1273629"/>
            <a:ext cx="6340929" cy="5486400"/>
          </a:xfrm>
        </p:spPr>
        <p:txBody>
          <a:bodyPr/>
          <a:lstStyle/>
          <a:p>
            <a:pPr algn="ctr"/>
            <a:r>
              <a:rPr lang="en-US" dirty="0"/>
              <a:t>Definitions and Business Overview</a:t>
            </a:r>
          </a:p>
          <a:p>
            <a:r>
              <a:rPr lang="en-US" b="1" dirty="0"/>
              <a:t>Internet Service Providers (ISPs)</a:t>
            </a:r>
            <a:r>
              <a:rPr lang="en-US" dirty="0"/>
              <a:t> </a:t>
            </a:r>
            <a:r>
              <a:rPr lang="en-US" b="0" dirty="0"/>
              <a:t>are companies or organizations that provide individuals and businesses with access to the internet and related services through Connections such as Wireless, </a:t>
            </a:r>
            <a:r>
              <a:rPr lang="en-US" b="0" dirty="0" err="1"/>
              <a:t>Satelite</a:t>
            </a:r>
            <a:r>
              <a:rPr lang="en-US" b="0" dirty="0"/>
              <a:t> and </a:t>
            </a:r>
            <a:r>
              <a:rPr lang="en-US" b="0" dirty="0" err="1"/>
              <a:t>Fibre</a:t>
            </a:r>
            <a:r>
              <a:rPr lang="en-US" b="0" dirty="0"/>
              <a:t> Optic Cables. There main services are;</a:t>
            </a:r>
            <a:endParaRPr lang="en-US" altLang="en-US" b="0" dirty="0"/>
          </a:p>
          <a:p>
            <a:r>
              <a:rPr lang="en-US" altLang="en-US" i="1" dirty="0"/>
              <a:t>Internet Access Provision </a:t>
            </a:r>
            <a:r>
              <a:rPr lang="en-US" altLang="en-US" b="0" dirty="0"/>
              <a:t>– Connecting users to the global internet.</a:t>
            </a:r>
          </a:p>
          <a:p>
            <a:r>
              <a:rPr lang="en-US" altLang="en-US" i="1" dirty="0"/>
              <a:t>Web Hosting </a:t>
            </a:r>
            <a:r>
              <a:rPr lang="en-US" altLang="en-US" b="0" dirty="0"/>
              <a:t>– Hosting websites and email services.</a:t>
            </a:r>
          </a:p>
          <a:p>
            <a:r>
              <a:rPr lang="en-US" altLang="en-US" i="1" dirty="0"/>
              <a:t>Network Maintenance </a:t>
            </a:r>
            <a:r>
              <a:rPr lang="en-US" altLang="en-US" b="0" dirty="0"/>
              <a:t>– Ensuring infrastructure is up and running with minimal downtime.</a:t>
            </a:r>
          </a:p>
          <a:p>
            <a:r>
              <a:rPr lang="en-US" b="1" dirty="0"/>
              <a:t>Customer churn</a:t>
            </a:r>
            <a:r>
              <a:rPr lang="en-US" dirty="0"/>
              <a:t> (also known as </a:t>
            </a:r>
            <a:r>
              <a:rPr lang="en-US" b="1" dirty="0"/>
              <a:t>customer attrition</a:t>
            </a:r>
            <a:r>
              <a:rPr lang="en-US" dirty="0"/>
              <a:t>) </a:t>
            </a:r>
            <a:r>
              <a:rPr lang="en-US" b="0" dirty="0"/>
              <a:t>is the rate at which customers stop doing business with a company over a given period. It’s a key metric for evaluating customer retention and overall business health, especially in subscription-based or service-oriented industries such as ISPs.</a:t>
            </a:r>
          </a:p>
          <a:p>
            <a:endParaRPr lang="en-US" dirty="0"/>
          </a:p>
        </p:txBody>
      </p:sp>
    </p:spTree>
    <p:extLst>
      <p:ext uri="{BB962C8B-B14F-4D97-AF65-F5344CB8AC3E}">
        <p14:creationId xmlns:p14="http://schemas.microsoft.com/office/powerpoint/2010/main" val="46166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DD7240A1-1E24-057B-F387-635FCBCBD42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210E44A-FAAB-91B1-C5AA-87BC12C93451}"/>
              </a:ext>
            </a:extLst>
          </p:cNvPr>
          <p:cNvSpPr>
            <a:spLocks noGrp="1"/>
          </p:cNvSpPr>
          <p:nvPr>
            <p:ph type="title"/>
          </p:nvPr>
        </p:nvSpPr>
        <p:spPr>
          <a:xfrm>
            <a:off x="762000" y="715961"/>
            <a:ext cx="6477000" cy="764496"/>
          </a:xfrm>
        </p:spPr>
        <p:txBody>
          <a:bodyPr/>
          <a:lstStyle/>
          <a:p>
            <a:r>
              <a:rPr lang="en-US" dirty="0"/>
              <a:t>Problem Statement</a:t>
            </a:r>
            <a:br>
              <a:rPr lang="en-US" dirty="0"/>
            </a:br>
            <a:endParaRPr lang="en-US" dirty="0"/>
          </a:p>
        </p:txBody>
      </p:sp>
      <p:sp>
        <p:nvSpPr>
          <p:cNvPr id="2" name="Text Placeholder 1">
            <a:extLst>
              <a:ext uri="{FF2B5EF4-FFF2-40B4-BE49-F238E27FC236}">
                <a16:creationId xmlns:a16="http://schemas.microsoft.com/office/drawing/2014/main" id="{0A888375-C666-D0D3-41D6-90F5C27707C0}"/>
              </a:ext>
            </a:extLst>
          </p:cNvPr>
          <p:cNvSpPr>
            <a:spLocks noGrp="1"/>
          </p:cNvSpPr>
          <p:nvPr>
            <p:ph type="body" sz="quarter" idx="11"/>
          </p:nvPr>
        </p:nvSpPr>
        <p:spPr>
          <a:xfrm>
            <a:off x="762000" y="1273629"/>
            <a:ext cx="6340929" cy="5486400"/>
          </a:xfrm>
        </p:spPr>
        <p:txBody>
          <a:bodyPr/>
          <a:lstStyle/>
          <a:p>
            <a:pPr marL="285750" marR="0" indent="-285750">
              <a:lnSpc>
                <a:spcPct val="115000"/>
              </a:lnSpc>
              <a:spcAft>
                <a:spcPts val="800"/>
              </a:spcAft>
              <a:buFont typeface="Arial" panose="020B0604020202020204" pitchFamily="34" charset="0"/>
              <a:buChar char="•"/>
            </a:pPr>
            <a:r>
              <a:rPr lang="en-US" sz="1800" b="0" kern="100" dirty="0">
                <a:effectLst/>
                <a:latin typeface="Abadi" panose="020B0604020104020204" pitchFamily="34" charset="0"/>
                <a:ea typeface="Aptos" panose="020B0004020202020204" pitchFamily="34" charset="0"/>
                <a:cs typeface="Times New Roman" panose="02020603050405020304" pitchFamily="18" charset="0"/>
              </a:rPr>
              <a:t>Internet Providers significantly face competition from their peers and thus the need to track and model customer churn to establish </a:t>
            </a:r>
            <a:r>
              <a:rPr lang="en-US" b="0" kern="100" dirty="0">
                <a:latin typeface="Abadi" panose="020B0604020104020204" pitchFamily="34" charset="0"/>
                <a:ea typeface="Aptos" panose="020B0004020202020204" pitchFamily="34" charset="0"/>
                <a:cs typeface="Times New Roman" panose="02020603050405020304" pitchFamily="18" charset="0"/>
              </a:rPr>
              <a:t>churn </a:t>
            </a:r>
            <a:r>
              <a:rPr lang="en-US" sz="1800" b="0" kern="100" dirty="0">
                <a:effectLst/>
                <a:latin typeface="Abadi" panose="020B0604020104020204" pitchFamily="34" charset="0"/>
                <a:ea typeface="Aptos" panose="020B0004020202020204" pitchFamily="34" charset="0"/>
                <a:cs typeface="Times New Roman" panose="02020603050405020304" pitchFamily="18" charset="0"/>
              </a:rPr>
              <a:t>probability and customers who are likely to churn.</a:t>
            </a:r>
          </a:p>
          <a:p>
            <a:pPr marL="285750" marR="0" indent="-285750">
              <a:lnSpc>
                <a:spcPct val="115000"/>
              </a:lnSpc>
              <a:spcAft>
                <a:spcPts val="800"/>
              </a:spcAft>
              <a:buFont typeface="Arial" panose="020B0604020202020204" pitchFamily="34" charset="0"/>
              <a:buChar char="•"/>
            </a:pPr>
            <a:r>
              <a:rPr lang="en-US" sz="1800" b="0" kern="100" dirty="0">
                <a:effectLst/>
                <a:latin typeface="Abadi" panose="020B0604020104020204" pitchFamily="34" charset="0"/>
                <a:ea typeface="Aptos" panose="020B0004020202020204" pitchFamily="34" charset="0"/>
                <a:cs typeface="Times New Roman" panose="02020603050405020304" pitchFamily="18" charset="0"/>
              </a:rPr>
              <a:t>Customer churn significantly impacts revenue and customer lifetime value.</a:t>
            </a:r>
          </a:p>
          <a:p>
            <a:pPr marL="285750" marR="0" indent="-285750">
              <a:lnSpc>
                <a:spcPct val="115000"/>
              </a:lnSpc>
              <a:spcAft>
                <a:spcPts val="800"/>
              </a:spcAft>
              <a:buFont typeface="Arial" panose="020B0604020202020204" pitchFamily="34" charset="0"/>
              <a:buChar char="•"/>
            </a:pPr>
            <a:r>
              <a:rPr lang="en-US" sz="1800" b="0" kern="100" dirty="0">
                <a:effectLst/>
                <a:latin typeface="Abadi" panose="020B0604020104020204" pitchFamily="34" charset="0"/>
                <a:ea typeface="Aptos" panose="020B0004020202020204" pitchFamily="34" charset="0"/>
                <a:cs typeface="Times New Roman" panose="02020603050405020304" pitchFamily="18" charset="0"/>
              </a:rPr>
              <a:t>Retaining existing customers is more cost-effective than acquiring new ones. </a:t>
            </a:r>
            <a:r>
              <a:rPr lang="en-US" sz="1800" kern="100" dirty="0">
                <a:effectLst/>
                <a:latin typeface="Abadi" panose="020B0604020104020204" pitchFamily="34" charset="0"/>
                <a:ea typeface="Aptos" panose="020B0004020202020204" pitchFamily="34" charset="0"/>
                <a:cs typeface="Times New Roman" panose="02020603050405020304" pitchFamily="18" charset="0"/>
              </a:rPr>
              <a:t>However, identifying which customers are likely to churn remains a challenge.</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marL="285750" marR="0" indent="-285750">
              <a:lnSpc>
                <a:spcPct val="115000"/>
              </a:lnSpc>
              <a:spcAft>
                <a:spcPts val="800"/>
              </a:spcAft>
              <a:buFont typeface="Arial" panose="020B0604020202020204" pitchFamily="34" charset="0"/>
              <a:buChar char="•"/>
            </a:pPr>
            <a:r>
              <a:rPr lang="en-US" sz="1800" kern="100" dirty="0">
                <a:effectLst/>
                <a:latin typeface="Abadi" panose="020B0604020104020204" pitchFamily="34" charset="0"/>
                <a:ea typeface="Aptos" panose="020B0004020202020204" pitchFamily="34" charset="0"/>
                <a:cs typeface="Times New Roman" panose="02020603050405020304" pitchFamily="18" charset="0"/>
              </a:rPr>
              <a:t>This project aims to develop a predictive machine learning model to estimate churn risk scores and identify high-risk customers using a mix of behavioral, demographic, and feedback data.</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3991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D27FF9A-14A1-EC82-09A7-6E71FCC6139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8B36476-81C2-0EB2-7A9F-28080B6112E5}"/>
              </a:ext>
            </a:extLst>
          </p:cNvPr>
          <p:cNvSpPr>
            <a:spLocks noGrp="1"/>
          </p:cNvSpPr>
          <p:nvPr>
            <p:ph type="title"/>
          </p:nvPr>
        </p:nvSpPr>
        <p:spPr>
          <a:xfrm>
            <a:off x="762000" y="715961"/>
            <a:ext cx="6477000" cy="764496"/>
          </a:xfrm>
        </p:spPr>
        <p:txBody>
          <a:bodyPr/>
          <a:lstStyle/>
          <a:p>
            <a:r>
              <a:rPr lang="en-US" dirty="0"/>
              <a:t>Research Objectives</a:t>
            </a:r>
            <a:br>
              <a:rPr lang="en-US" dirty="0"/>
            </a:br>
            <a:endParaRPr lang="en-US" dirty="0"/>
          </a:p>
        </p:txBody>
      </p:sp>
      <p:sp>
        <p:nvSpPr>
          <p:cNvPr id="2" name="Text Placeholder 1">
            <a:extLst>
              <a:ext uri="{FF2B5EF4-FFF2-40B4-BE49-F238E27FC236}">
                <a16:creationId xmlns:a16="http://schemas.microsoft.com/office/drawing/2014/main" id="{BFA209E8-7FA2-F3D4-F0A4-C6DBFADC48C4}"/>
              </a:ext>
            </a:extLst>
          </p:cNvPr>
          <p:cNvSpPr>
            <a:spLocks noGrp="1"/>
          </p:cNvSpPr>
          <p:nvPr>
            <p:ph type="body" sz="quarter" idx="11"/>
          </p:nvPr>
        </p:nvSpPr>
        <p:spPr>
          <a:xfrm>
            <a:off x="762000" y="1273629"/>
            <a:ext cx="6340929" cy="5486400"/>
          </a:xfrm>
        </p:spPr>
        <p:txBody>
          <a:bodyPr/>
          <a:lstStyle/>
          <a:p>
            <a:pPr marL="400050" indent="-400050">
              <a:buAutoNum type="romanLcParenBoth"/>
            </a:pPr>
            <a:r>
              <a:rPr lang="en-US" sz="2400" b="0" kern="100" dirty="0">
                <a:effectLst/>
                <a:latin typeface="Abadi" panose="020B0604020104020204" pitchFamily="34" charset="0"/>
                <a:ea typeface="Aptos" panose="020B0004020202020204" pitchFamily="34" charset="0"/>
                <a:cs typeface="Times New Roman" panose="02020603050405020304" pitchFamily="18" charset="0"/>
              </a:rPr>
              <a:t>To build a supervised machine learning model capable of predicting customer churn risk using behavioral, transactional, and feedback data.</a:t>
            </a:r>
          </a:p>
          <a:p>
            <a:pPr marL="400050" indent="-400050">
              <a:buAutoNum type="romanLcParenBoth"/>
            </a:pPr>
            <a:r>
              <a:rPr lang="en-US" sz="2400" b="0" kern="100" dirty="0">
                <a:effectLst/>
                <a:latin typeface="Abadi" panose="020B0604020104020204" pitchFamily="34" charset="0"/>
                <a:ea typeface="Aptos" panose="020B0004020202020204" pitchFamily="34" charset="0"/>
                <a:cs typeface="Times New Roman" panose="02020603050405020304" pitchFamily="18" charset="0"/>
              </a:rPr>
              <a:t>To Identify customer segments that are most likely to churn?</a:t>
            </a:r>
            <a:endParaRPr lang="en-US" sz="2400" b="0" kern="100" dirty="0">
              <a:latin typeface="Aptos" panose="020B0004020202020204" pitchFamily="34" charset="0"/>
              <a:ea typeface="Aptos" panose="020B0004020202020204" pitchFamily="34" charset="0"/>
              <a:cs typeface="Times New Roman" panose="02020603050405020304" pitchFamily="18" charset="0"/>
            </a:endParaRPr>
          </a:p>
          <a:p>
            <a:pPr marL="400050" indent="-400050">
              <a:buAutoNum type="romanLcParenBoth"/>
            </a:pPr>
            <a:r>
              <a:rPr lang="en-US" sz="2400" b="0" kern="100" dirty="0">
                <a:effectLst/>
                <a:latin typeface="Abadi" panose="020B0604020104020204" pitchFamily="34" charset="0"/>
                <a:ea typeface="Aptos" panose="020B0004020202020204" pitchFamily="34" charset="0"/>
                <a:cs typeface="Times New Roman" panose="02020603050405020304" pitchFamily="18" charset="0"/>
              </a:rPr>
              <a:t>What are the top behavioral or demographic predictors of churn?</a:t>
            </a:r>
            <a:endParaRPr lang="en-US" sz="2400" b="0" kern="100" dirty="0">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400" b="0" kern="100" dirty="0">
                <a:effectLst/>
                <a:latin typeface="Abadi" panose="020B0604020104020204" pitchFamily="34" charset="0"/>
                <a:ea typeface="Aptos" panose="020B0004020202020204" pitchFamily="34" charset="0"/>
                <a:cs typeface="Times New Roman" panose="02020603050405020304" pitchFamily="18" charset="0"/>
              </a:rPr>
              <a:t>(iv) </a:t>
            </a:r>
            <a:r>
              <a:rPr lang="en-US" sz="2400" b="0" kern="100" dirty="0">
                <a:latin typeface="Abadi" panose="020B0604020104020204" pitchFamily="34" charset="0"/>
                <a:ea typeface="Aptos" panose="020B0004020202020204" pitchFamily="34" charset="0"/>
                <a:cs typeface="Times New Roman" panose="02020603050405020304" pitchFamily="18" charset="0"/>
              </a:rPr>
              <a:t>To recommend </a:t>
            </a:r>
            <a:r>
              <a:rPr lang="en-US" sz="2400" b="0" kern="100" dirty="0">
                <a:effectLst/>
                <a:latin typeface="Abadi" panose="020B0604020104020204" pitchFamily="34" charset="0"/>
                <a:ea typeface="Aptos" panose="020B0004020202020204" pitchFamily="34" charset="0"/>
                <a:cs typeface="Times New Roman" panose="02020603050405020304" pitchFamily="18" charset="0"/>
              </a:rPr>
              <a:t>actionable customer retention strategies to mitigate customer churn.</a:t>
            </a:r>
            <a:endParaRPr lang="en-US" sz="2400" b="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2400" dirty="0"/>
          </a:p>
        </p:txBody>
      </p:sp>
    </p:spTree>
    <p:extLst>
      <p:ext uri="{BB962C8B-B14F-4D97-AF65-F5344CB8AC3E}">
        <p14:creationId xmlns:p14="http://schemas.microsoft.com/office/powerpoint/2010/main" val="1377447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68065EC-FB1A-BE51-D758-80EA88FFEF2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3440654-630B-C9EA-EA55-79624659E59A}"/>
              </a:ext>
            </a:extLst>
          </p:cNvPr>
          <p:cNvSpPr>
            <a:spLocks noGrp="1"/>
          </p:cNvSpPr>
          <p:nvPr>
            <p:ph type="title"/>
          </p:nvPr>
        </p:nvSpPr>
        <p:spPr>
          <a:xfrm>
            <a:off x="762000" y="1"/>
            <a:ext cx="6477000" cy="925286"/>
          </a:xfrm>
        </p:spPr>
        <p:txBody>
          <a:bodyPr/>
          <a:lstStyle/>
          <a:p>
            <a:r>
              <a:rPr lang="en-US" dirty="0"/>
              <a:t>Research Methodology</a:t>
            </a:r>
            <a:br>
              <a:rPr lang="en-US" dirty="0"/>
            </a:br>
            <a:br>
              <a:rPr lang="en-US" dirty="0"/>
            </a:br>
            <a:endParaRPr lang="en-US" dirty="0"/>
          </a:p>
        </p:txBody>
      </p:sp>
      <p:sp>
        <p:nvSpPr>
          <p:cNvPr id="2" name="Text Placeholder 1">
            <a:extLst>
              <a:ext uri="{FF2B5EF4-FFF2-40B4-BE49-F238E27FC236}">
                <a16:creationId xmlns:a16="http://schemas.microsoft.com/office/drawing/2014/main" id="{4FC312AD-90F0-E98C-A900-7701F94219DE}"/>
              </a:ext>
            </a:extLst>
          </p:cNvPr>
          <p:cNvSpPr>
            <a:spLocks noGrp="1"/>
          </p:cNvSpPr>
          <p:nvPr>
            <p:ph type="body" sz="quarter" idx="11"/>
          </p:nvPr>
        </p:nvSpPr>
        <p:spPr>
          <a:xfrm>
            <a:off x="762000" y="762000"/>
            <a:ext cx="6662057" cy="5998028"/>
          </a:xfrm>
        </p:spPr>
        <p:txBody>
          <a:bodyPr/>
          <a:lstStyle/>
          <a:p>
            <a:pPr marL="400050" indent="-400050">
              <a:buAutoNum type="romanLcParenBoth"/>
            </a:pPr>
            <a:r>
              <a:rPr lang="en-US" sz="2400" kern="100" dirty="0">
                <a:latin typeface="Abadi" panose="020B0604020104020204" pitchFamily="34" charset="0"/>
                <a:ea typeface="Aptos" panose="020B0004020202020204" pitchFamily="34" charset="0"/>
                <a:cs typeface="Times New Roman" panose="02020603050405020304" pitchFamily="18" charset="0"/>
              </a:rPr>
              <a:t>Business Understanding </a:t>
            </a:r>
            <a:r>
              <a:rPr lang="en-US" sz="2400" b="0" kern="100" dirty="0">
                <a:latin typeface="Abadi" panose="020B0604020104020204" pitchFamily="34" charset="0"/>
                <a:ea typeface="Aptos" panose="020B0004020202020204" pitchFamily="34" charset="0"/>
                <a:cs typeface="Times New Roman" panose="02020603050405020304" pitchFamily="18" charset="0"/>
              </a:rPr>
              <a:t>– Involved setting Business Objectives, assessing the situation, Determining </a:t>
            </a:r>
            <a:r>
              <a:rPr lang="en-US" sz="2400" b="0" kern="100" dirty="0">
                <a:effectLst/>
                <a:latin typeface="Abadi" panose="020B0604020104020204" pitchFamily="34" charset="0"/>
                <a:ea typeface="Aptos" panose="020B0004020202020204" pitchFamily="34" charset="0"/>
                <a:cs typeface="Times New Roman" panose="02020603050405020304" pitchFamily="18" charset="0"/>
              </a:rPr>
              <a:t>data mining goals, and Project plan Preparation.</a:t>
            </a:r>
          </a:p>
          <a:p>
            <a:pPr marL="400050" indent="-400050">
              <a:buAutoNum type="romanLcParenBoth"/>
            </a:pPr>
            <a:r>
              <a:rPr lang="en-US" sz="2400" kern="100" dirty="0">
                <a:effectLst/>
                <a:latin typeface="Abadi" panose="020B0604020104020204" pitchFamily="34" charset="0"/>
                <a:ea typeface="Aptos" panose="020B0004020202020204" pitchFamily="34" charset="0"/>
                <a:cs typeface="Times New Roman" panose="02020603050405020304" pitchFamily="18" charset="0"/>
              </a:rPr>
              <a:t>Data Understanding </a:t>
            </a:r>
            <a:r>
              <a:rPr lang="en-US" sz="2400" b="0" kern="100" dirty="0">
                <a:effectLst/>
                <a:latin typeface="Abadi" panose="020B0604020104020204" pitchFamily="34" charset="0"/>
                <a:ea typeface="Aptos" panose="020B0004020202020204" pitchFamily="34" charset="0"/>
                <a:cs typeface="Times New Roman" panose="02020603050405020304" pitchFamily="18" charset="0"/>
              </a:rPr>
              <a:t>– Secondary dataset was obtained from Kaggle. The selected dataset contained </a:t>
            </a:r>
            <a:endParaRPr lang="en-US" sz="2400" b="0" kern="100" dirty="0">
              <a:latin typeface="Aptos" panose="020B0004020202020204" pitchFamily="34" charset="0"/>
              <a:ea typeface="Aptos" panose="020B0004020202020204" pitchFamily="34" charset="0"/>
              <a:cs typeface="Times New Roman" panose="02020603050405020304" pitchFamily="18" charset="0"/>
            </a:endParaRPr>
          </a:p>
          <a:p>
            <a:pPr marL="400050" indent="-400050">
              <a:buAutoNum type="romanLcParenBoth"/>
            </a:pPr>
            <a:r>
              <a:rPr lang="en-US" sz="2400" b="1" i="0" dirty="0">
                <a:solidFill>
                  <a:srgbClr val="444444"/>
                </a:solidFill>
                <a:effectLst/>
                <a:latin typeface="Abadi" panose="020B0604020104020204" pitchFamily="34" charset="0"/>
              </a:rPr>
              <a:t> </a:t>
            </a:r>
            <a:r>
              <a:rPr lang="en-US" sz="2400" i="0" dirty="0">
                <a:solidFill>
                  <a:srgbClr val="444444"/>
                </a:solidFill>
                <a:effectLst/>
                <a:latin typeface="Abadi" panose="020B0604020104020204" pitchFamily="34" charset="0"/>
              </a:rPr>
              <a:t>Data Preparation - </a:t>
            </a:r>
            <a:r>
              <a:rPr lang="en-US" sz="2400" b="0" i="0" dirty="0">
                <a:solidFill>
                  <a:srgbClr val="444444"/>
                </a:solidFill>
                <a:effectLst/>
                <a:latin typeface="Abadi" panose="020B0604020104020204" pitchFamily="34" charset="0"/>
              </a:rPr>
              <a:t>Data cleaning &amp; Data Pre-processing</a:t>
            </a:r>
          </a:p>
          <a:p>
            <a:pPr marL="400050" indent="-400050">
              <a:buAutoNum type="romanLcParenBoth"/>
            </a:pPr>
            <a:r>
              <a:rPr lang="en-US" sz="2400" dirty="0">
                <a:solidFill>
                  <a:srgbClr val="444444"/>
                </a:solidFill>
                <a:latin typeface="Abadi" panose="020B0604020104020204" pitchFamily="34" charset="0"/>
              </a:rPr>
              <a:t> Modelling – </a:t>
            </a:r>
            <a:r>
              <a:rPr lang="en-US" sz="2400" b="0" dirty="0">
                <a:solidFill>
                  <a:srgbClr val="444444"/>
                </a:solidFill>
                <a:latin typeface="Abadi" panose="020B0604020104020204" pitchFamily="34" charset="0"/>
              </a:rPr>
              <a:t>Random Forest, Decision Trees, </a:t>
            </a:r>
            <a:r>
              <a:rPr lang="en-US" sz="2400" b="0" dirty="0" err="1">
                <a:solidFill>
                  <a:srgbClr val="444444"/>
                </a:solidFill>
                <a:latin typeface="Abadi" panose="020B0604020104020204" pitchFamily="34" charset="0"/>
              </a:rPr>
              <a:t>Xgboost</a:t>
            </a:r>
            <a:r>
              <a:rPr lang="en-US" sz="2400" b="0" dirty="0">
                <a:solidFill>
                  <a:srgbClr val="444444"/>
                </a:solidFill>
                <a:latin typeface="Abadi" panose="020B0604020104020204" pitchFamily="34" charset="0"/>
              </a:rPr>
              <a:t> , and Neural Network.</a:t>
            </a:r>
            <a:endParaRPr lang="en-US" sz="2400" b="0" i="0" dirty="0">
              <a:solidFill>
                <a:srgbClr val="444444"/>
              </a:solidFill>
              <a:effectLst/>
              <a:latin typeface="Abadi" panose="020B0604020104020204" pitchFamily="34" charset="0"/>
            </a:endParaRPr>
          </a:p>
          <a:p>
            <a:pPr marL="0" marR="0">
              <a:lnSpc>
                <a:spcPct val="115000"/>
              </a:lnSpc>
              <a:spcAft>
                <a:spcPts val="800"/>
              </a:spcAft>
              <a:buNone/>
            </a:pPr>
            <a:r>
              <a:rPr lang="en-US" sz="2400" kern="100" dirty="0">
                <a:effectLst/>
                <a:latin typeface="Abadi" panose="020B0604020104020204" pitchFamily="34" charset="0"/>
                <a:ea typeface="Aptos" panose="020B0004020202020204" pitchFamily="34" charset="0"/>
                <a:cs typeface="Times New Roman" panose="02020603050405020304" pitchFamily="18" charset="0"/>
              </a:rPr>
              <a:t>(iv) Evaluation – R</a:t>
            </a:r>
            <a:r>
              <a:rPr lang="en-US" sz="2400" b="0" kern="100" dirty="0">
                <a:effectLst/>
                <a:latin typeface="Abadi" panose="020B0604020104020204" pitchFamily="34" charset="0"/>
                <a:ea typeface="Aptos" panose="020B0004020202020204" pitchFamily="34" charset="0"/>
                <a:cs typeface="Times New Roman" panose="02020603050405020304" pitchFamily="18" charset="0"/>
              </a:rPr>
              <a:t>eviewing existing models to determine the best model for deployment</a:t>
            </a:r>
            <a:endParaRPr lang="en-US" sz="2400" b="0" kern="100" dirty="0">
              <a:latin typeface="Abadi" panose="020B0604020104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400" kern="100" dirty="0">
                <a:effectLst/>
                <a:latin typeface="Abadi" panose="020B0604020104020204" pitchFamily="34" charset="0"/>
                <a:ea typeface="Aptos" panose="020B0004020202020204" pitchFamily="34" charset="0"/>
                <a:cs typeface="Times New Roman" panose="02020603050405020304" pitchFamily="18" charset="0"/>
              </a:rPr>
              <a:t>(V) Deployment</a:t>
            </a:r>
          </a:p>
        </p:txBody>
      </p:sp>
    </p:spTree>
    <p:extLst>
      <p:ext uri="{BB962C8B-B14F-4D97-AF65-F5344CB8AC3E}">
        <p14:creationId xmlns:p14="http://schemas.microsoft.com/office/powerpoint/2010/main" val="2565581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0AD1FA84-A13A-C71C-C565-482B66023BC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F941BB8-A0EF-DD2A-5580-7B2C706FBDDD}"/>
              </a:ext>
            </a:extLst>
          </p:cNvPr>
          <p:cNvSpPr>
            <a:spLocks noGrp="1"/>
          </p:cNvSpPr>
          <p:nvPr>
            <p:ph type="title"/>
          </p:nvPr>
        </p:nvSpPr>
        <p:spPr>
          <a:xfrm>
            <a:off x="762000" y="97971"/>
            <a:ext cx="6477000" cy="881743"/>
          </a:xfrm>
        </p:spPr>
        <p:txBody>
          <a:bodyPr/>
          <a:lstStyle/>
          <a:p>
            <a:r>
              <a:rPr lang="en-US" dirty="0"/>
              <a:t>Data Understanding</a:t>
            </a:r>
            <a:br>
              <a:rPr lang="en-US" dirty="0"/>
            </a:br>
            <a:br>
              <a:rPr lang="en-US" dirty="0"/>
            </a:br>
            <a:endParaRPr lang="en-US" dirty="0"/>
          </a:p>
        </p:txBody>
      </p:sp>
      <p:sp>
        <p:nvSpPr>
          <p:cNvPr id="2" name="Text Placeholder 1">
            <a:extLst>
              <a:ext uri="{FF2B5EF4-FFF2-40B4-BE49-F238E27FC236}">
                <a16:creationId xmlns:a16="http://schemas.microsoft.com/office/drawing/2014/main" id="{380FC11E-35B3-BAF8-5742-3B0B96840E0A}"/>
              </a:ext>
            </a:extLst>
          </p:cNvPr>
          <p:cNvSpPr>
            <a:spLocks noGrp="1"/>
          </p:cNvSpPr>
          <p:nvPr>
            <p:ph type="body" sz="quarter" idx="11"/>
          </p:nvPr>
        </p:nvSpPr>
        <p:spPr>
          <a:xfrm>
            <a:off x="762000" y="620485"/>
            <a:ext cx="6340929" cy="6139543"/>
          </a:xfrm>
        </p:spPr>
        <p:txBody>
          <a:bodyPr/>
          <a:lstStyle/>
          <a:p>
            <a:endParaRPr lang="en-US" sz="2400" kern="100" dirty="0">
              <a:effectLst/>
              <a:latin typeface="Abadi" panose="020B0604020104020204" pitchFamily="34" charset="0"/>
              <a:ea typeface="Aptos" panose="020B0004020202020204" pitchFamily="34" charset="0"/>
              <a:cs typeface="Times New Roman" panose="02020603050405020304" pitchFamily="18" charset="0"/>
            </a:endParaRPr>
          </a:p>
          <a:p>
            <a:r>
              <a:rPr lang="en-US" sz="2400" kern="100" dirty="0">
                <a:effectLst/>
                <a:latin typeface="Abadi" panose="020B0604020104020204" pitchFamily="34" charset="0"/>
                <a:ea typeface="Aptos" panose="020B0004020202020204" pitchFamily="34" charset="0"/>
                <a:cs typeface="Times New Roman" panose="02020603050405020304" pitchFamily="18" charset="0"/>
              </a:rPr>
              <a:t>The selected dataset contained 36,992 rows and 23 Columns. </a:t>
            </a:r>
            <a:r>
              <a:rPr lang="en-US" sz="2400" kern="100" dirty="0">
                <a:latin typeface="Abadi" panose="020B0604020104020204" pitchFamily="34" charset="0"/>
                <a:ea typeface="Aptos" panose="020B0004020202020204" pitchFamily="34" charset="0"/>
                <a:cs typeface="Times New Roman" panose="02020603050405020304" pitchFamily="18" charset="0"/>
              </a:rPr>
              <a:t>Churn risk score was the dependent variable while the various demographic, transactional and feedback variables  formed the independent variables.</a:t>
            </a:r>
          </a:p>
          <a:p>
            <a:endParaRPr lang="en-US" sz="2400" kern="100" dirty="0">
              <a:effectLst/>
              <a:latin typeface="Abadi" panose="020B0604020104020204" pitchFamily="34" charset="0"/>
              <a:ea typeface="Aptos" panose="020B000402020202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CAAA126C-4C80-2597-4BB6-50CCF394EB29}"/>
              </a:ext>
            </a:extLst>
          </p:cNvPr>
          <p:cNvPicPr>
            <a:picLocks noChangeAspect="1"/>
          </p:cNvPicPr>
          <p:nvPr/>
        </p:nvPicPr>
        <p:blipFill>
          <a:blip r:embed="rId2"/>
          <a:stretch>
            <a:fillRect/>
          </a:stretch>
        </p:blipFill>
        <p:spPr>
          <a:xfrm>
            <a:off x="881640" y="3037114"/>
            <a:ext cx="5410303" cy="3374573"/>
          </a:xfrm>
          <a:prstGeom prst="rect">
            <a:avLst/>
          </a:prstGeom>
        </p:spPr>
      </p:pic>
    </p:spTree>
    <p:extLst>
      <p:ext uri="{BB962C8B-B14F-4D97-AF65-F5344CB8AC3E}">
        <p14:creationId xmlns:p14="http://schemas.microsoft.com/office/powerpoint/2010/main" val="3595308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6F528AD-5B7B-499C-D119-F514A63FE03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1B330F9-BD22-3F7D-FE54-52485FC48B32}"/>
              </a:ext>
            </a:extLst>
          </p:cNvPr>
          <p:cNvSpPr>
            <a:spLocks noGrp="1"/>
          </p:cNvSpPr>
          <p:nvPr>
            <p:ph type="title"/>
          </p:nvPr>
        </p:nvSpPr>
        <p:spPr>
          <a:xfrm>
            <a:off x="762000" y="97971"/>
            <a:ext cx="6477000" cy="1055915"/>
          </a:xfrm>
        </p:spPr>
        <p:txBody>
          <a:bodyPr/>
          <a:lstStyle/>
          <a:p>
            <a:r>
              <a:rPr lang="en-US" dirty="0"/>
              <a:t>Data Understanding</a:t>
            </a:r>
            <a:br>
              <a:rPr lang="en-US" dirty="0"/>
            </a:br>
            <a:br>
              <a:rPr lang="en-US" dirty="0"/>
            </a:br>
            <a:endParaRPr lang="en-US" dirty="0"/>
          </a:p>
        </p:txBody>
      </p:sp>
      <p:sp>
        <p:nvSpPr>
          <p:cNvPr id="2" name="Text Placeholder 1">
            <a:extLst>
              <a:ext uri="{FF2B5EF4-FFF2-40B4-BE49-F238E27FC236}">
                <a16:creationId xmlns:a16="http://schemas.microsoft.com/office/drawing/2014/main" id="{32FFC0E8-69AC-ECEF-827F-46BC2E1757BA}"/>
              </a:ext>
            </a:extLst>
          </p:cNvPr>
          <p:cNvSpPr>
            <a:spLocks noGrp="1"/>
          </p:cNvSpPr>
          <p:nvPr>
            <p:ph type="body" sz="quarter" idx="11"/>
          </p:nvPr>
        </p:nvSpPr>
        <p:spPr>
          <a:xfrm>
            <a:off x="762000" y="620485"/>
            <a:ext cx="6340929" cy="6139543"/>
          </a:xfrm>
        </p:spPr>
        <p:txBody>
          <a:bodyPr/>
          <a:lstStyle/>
          <a:p>
            <a:endParaRPr lang="en-US" sz="2400" kern="100" dirty="0">
              <a:effectLst/>
              <a:latin typeface="Abadi" panose="020B0604020104020204" pitchFamily="34" charset="0"/>
              <a:ea typeface="Aptos" panose="020B0004020202020204" pitchFamily="34" charset="0"/>
              <a:cs typeface="Times New Roman" panose="02020603050405020304" pitchFamily="18" charset="0"/>
            </a:endParaRPr>
          </a:p>
          <a:p>
            <a:endParaRPr lang="en-US" sz="2400" kern="100" dirty="0">
              <a:effectLst/>
              <a:latin typeface="Abadi" panose="020B0604020104020204" pitchFamily="34" charset="0"/>
              <a:ea typeface="Aptos" panose="020B000402020202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040089BD-57E9-5147-7378-D3F0CD5FB118}"/>
              </a:ext>
            </a:extLst>
          </p:cNvPr>
          <p:cNvPicPr>
            <a:picLocks noChangeAspect="1"/>
          </p:cNvPicPr>
          <p:nvPr/>
        </p:nvPicPr>
        <p:blipFill>
          <a:blip r:embed="rId2"/>
          <a:stretch>
            <a:fillRect/>
          </a:stretch>
        </p:blipFill>
        <p:spPr>
          <a:xfrm>
            <a:off x="451760" y="909927"/>
            <a:ext cx="5372098" cy="4314825"/>
          </a:xfrm>
          <a:prstGeom prst="rect">
            <a:avLst/>
          </a:prstGeom>
        </p:spPr>
      </p:pic>
      <p:sp>
        <p:nvSpPr>
          <p:cNvPr id="8" name="TextBox 7">
            <a:extLst>
              <a:ext uri="{FF2B5EF4-FFF2-40B4-BE49-F238E27FC236}">
                <a16:creationId xmlns:a16="http://schemas.microsoft.com/office/drawing/2014/main" id="{FB47DEA3-090A-68E4-29CC-31001FEFED8A}"/>
              </a:ext>
            </a:extLst>
          </p:cNvPr>
          <p:cNvSpPr txBox="1"/>
          <p:nvPr/>
        </p:nvSpPr>
        <p:spPr>
          <a:xfrm>
            <a:off x="451760" y="5116286"/>
            <a:ext cx="6340929" cy="923330"/>
          </a:xfrm>
          <a:prstGeom prst="rect">
            <a:avLst/>
          </a:prstGeom>
          <a:noFill/>
        </p:spPr>
        <p:txBody>
          <a:bodyPr wrap="square" rtlCol="0">
            <a:spAutoFit/>
          </a:bodyPr>
          <a:lstStyle/>
          <a:p>
            <a:r>
              <a:rPr lang="en-US" dirty="0">
                <a:solidFill>
                  <a:srgbClr val="050607"/>
                </a:solidFill>
              </a:rPr>
              <a:t>The chart above indicates that the number of customers who are likely to churn and more customers who are unlikely to churn.</a:t>
            </a:r>
          </a:p>
        </p:txBody>
      </p:sp>
    </p:spTree>
    <p:extLst>
      <p:ext uri="{BB962C8B-B14F-4D97-AF65-F5344CB8AC3E}">
        <p14:creationId xmlns:p14="http://schemas.microsoft.com/office/powerpoint/2010/main" val="4212604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ACE67B5-794A-1B0D-A73B-755DAB3A527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7562A64-528F-CCB4-9316-B482030E9C5A}"/>
              </a:ext>
            </a:extLst>
          </p:cNvPr>
          <p:cNvSpPr>
            <a:spLocks noGrp="1"/>
          </p:cNvSpPr>
          <p:nvPr>
            <p:ph type="title"/>
          </p:nvPr>
        </p:nvSpPr>
        <p:spPr>
          <a:xfrm>
            <a:off x="762000" y="97971"/>
            <a:ext cx="6477000" cy="1055915"/>
          </a:xfrm>
        </p:spPr>
        <p:txBody>
          <a:bodyPr/>
          <a:lstStyle/>
          <a:p>
            <a:r>
              <a:rPr lang="en-US" dirty="0"/>
              <a:t>Modelling</a:t>
            </a:r>
            <a:br>
              <a:rPr lang="en-US" dirty="0"/>
            </a:br>
            <a:br>
              <a:rPr lang="en-US" dirty="0"/>
            </a:br>
            <a:endParaRPr lang="en-US" dirty="0"/>
          </a:p>
        </p:txBody>
      </p:sp>
      <p:sp>
        <p:nvSpPr>
          <p:cNvPr id="2" name="Text Placeholder 1">
            <a:extLst>
              <a:ext uri="{FF2B5EF4-FFF2-40B4-BE49-F238E27FC236}">
                <a16:creationId xmlns:a16="http://schemas.microsoft.com/office/drawing/2014/main" id="{2F4689ED-B72C-234C-8F78-A93DDC08FB16}"/>
              </a:ext>
            </a:extLst>
          </p:cNvPr>
          <p:cNvSpPr>
            <a:spLocks noGrp="1"/>
          </p:cNvSpPr>
          <p:nvPr>
            <p:ph type="body" sz="quarter" idx="11"/>
          </p:nvPr>
        </p:nvSpPr>
        <p:spPr>
          <a:xfrm>
            <a:off x="762000" y="620485"/>
            <a:ext cx="6340929" cy="6139543"/>
          </a:xfrm>
        </p:spPr>
        <p:txBody>
          <a:bodyPr/>
          <a:lstStyle/>
          <a:p>
            <a:pPr algn="l">
              <a:spcBef>
                <a:spcPts val="1089"/>
              </a:spcBef>
              <a:spcAft>
                <a:spcPts val="1451"/>
              </a:spcAft>
              <a:buNone/>
            </a:pPr>
            <a:r>
              <a:rPr lang="en-US" sz="2400" b="0" i="0" dirty="0">
                <a:effectLst/>
                <a:latin typeface="system-ui"/>
              </a:rPr>
              <a:t>Logistic regression, random forest, XG boost and light GBM were selected because they work best on a binary data(Churn risk).</a:t>
            </a:r>
          </a:p>
          <a:p>
            <a:pPr algn="l">
              <a:spcBef>
                <a:spcPts val="1089"/>
              </a:spcBef>
              <a:spcAft>
                <a:spcPts val="1451"/>
              </a:spcAft>
              <a:buNone/>
            </a:pPr>
            <a:r>
              <a:rPr lang="en-US" sz="2400" i="1" dirty="0">
                <a:latin typeface="system-ui"/>
              </a:rPr>
              <a:t>(</a:t>
            </a:r>
            <a:r>
              <a:rPr lang="en-US" sz="2400" i="1" dirty="0" err="1">
                <a:latin typeface="system-ui"/>
              </a:rPr>
              <a:t>i</a:t>
            </a:r>
            <a:r>
              <a:rPr lang="en-US" sz="2400" i="1" dirty="0">
                <a:latin typeface="system-ui"/>
              </a:rPr>
              <a:t>)Logistic Regression- </a:t>
            </a:r>
            <a:r>
              <a:rPr lang="en-US" sz="2400" b="0" i="1" dirty="0">
                <a:latin typeface="system-ui"/>
              </a:rPr>
              <a:t>Selected as the baseline model.</a:t>
            </a:r>
            <a:endParaRPr lang="en-US" sz="2400" b="0" i="1" dirty="0">
              <a:effectLst/>
              <a:latin typeface="system-ui"/>
            </a:endParaRPr>
          </a:p>
          <a:p>
            <a:endParaRPr lang="en-US" sz="2400" kern="100" dirty="0">
              <a:effectLst/>
              <a:latin typeface="Abadi" panose="020B0604020104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E47C00F7-43EA-775A-BB11-84B11212BBD4}"/>
              </a:ext>
            </a:extLst>
          </p:cNvPr>
          <p:cNvPicPr>
            <a:picLocks noChangeAspect="1"/>
          </p:cNvPicPr>
          <p:nvPr/>
        </p:nvPicPr>
        <p:blipFill>
          <a:blip r:embed="rId2"/>
          <a:stretch>
            <a:fillRect/>
          </a:stretch>
        </p:blipFill>
        <p:spPr>
          <a:xfrm>
            <a:off x="960113" y="2900529"/>
            <a:ext cx="5614857" cy="2422585"/>
          </a:xfrm>
          <a:prstGeom prst="rect">
            <a:avLst/>
          </a:prstGeom>
        </p:spPr>
      </p:pic>
    </p:spTree>
    <p:extLst>
      <p:ext uri="{BB962C8B-B14F-4D97-AF65-F5344CB8AC3E}">
        <p14:creationId xmlns:p14="http://schemas.microsoft.com/office/powerpoint/2010/main" val="2080764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120ADA0-1789-8B4C-E606-9EE7C0583D5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DBD11E5-F6D1-C105-2436-29C0FF4BDC6C}"/>
              </a:ext>
            </a:extLst>
          </p:cNvPr>
          <p:cNvSpPr>
            <a:spLocks noGrp="1"/>
          </p:cNvSpPr>
          <p:nvPr>
            <p:ph type="body" sz="quarter" idx="11"/>
          </p:nvPr>
        </p:nvSpPr>
        <p:spPr>
          <a:xfrm>
            <a:off x="762000" y="500743"/>
            <a:ext cx="6340929" cy="5497286"/>
          </a:xfrm>
        </p:spPr>
        <p:txBody>
          <a:bodyPr/>
          <a:lstStyle/>
          <a:p>
            <a:pPr algn="ctr"/>
            <a:endParaRPr lang="en-US" dirty="0"/>
          </a:p>
        </p:txBody>
      </p:sp>
      <p:pic>
        <p:nvPicPr>
          <p:cNvPr id="4" name="Picture 3">
            <a:extLst>
              <a:ext uri="{FF2B5EF4-FFF2-40B4-BE49-F238E27FC236}">
                <a16:creationId xmlns:a16="http://schemas.microsoft.com/office/drawing/2014/main" id="{609575F7-4F4B-3152-9B43-CC39DD9CF20D}"/>
              </a:ext>
            </a:extLst>
          </p:cNvPr>
          <p:cNvPicPr>
            <a:picLocks noChangeAspect="1"/>
          </p:cNvPicPr>
          <p:nvPr/>
        </p:nvPicPr>
        <p:blipFill>
          <a:blip r:embed="rId2"/>
          <a:stretch>
            <a:fillRect/>
          </a:stretch>
        </p:blipFill>
        <p:spPr>
          <a:xfrm>
            <a:off x="636813" y="500742"/>
            <a:ext cx="6466116" cy="4234543"/>
          </a:xfrm>
          <a:prstGeom prst="rect">
            <a:avLst/>
          </a:prstGeom>
        </p:spPr>
      </p:pic>
    </p:spTree>
    <p:extLst>
      <p:ext uri="{BB962C8B-B14F-4D97-AF65-F5344CB8AC3E}">
        <p14:creationId xmlns:p14="http://schemas.microsoft.com/office/powerpoint/2010/main" val="1888883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A6F9F1-C4C9-AD8B-210E-FF71752BE01E}"/>
              </a:ext>
            </a:extLst>
          </p:cNvPr>
          <p:cNvPicPr>
            <a:picLocks noChangeAspect="1"/>
          </p:cNvPicPr>
          <p:nvPr/>
        </p:nvPicPr>
        <p:blipFill>
          <a:blip r:embed="rId2"/>
          <a:stretch>
            <a:fillRect/>
          </a:stretch>
        </p:blipFill>
        <p:spPr>
          <a:xfrm>
            <a:off x="261257" y="76200"/>
            <a:ext cx="6509657" cy="6065839"/>
          </a:xfrm>
          <a:prstGeom prst="rect">
            <a:avLst/>
          </a:prstGeom>
        </p:spPr>
      </p:pic>
    </p:spTree>
    <p:extLst>
      <p:ext uri="{BB962C8B-B14F-4D97-AF65-F5344CB8AC3E}">
        <p14:creationId xmlns:p14="http://schemas.microsoft.com/office/powerpoint/2010/main" val="3251149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CAB4D-02B4-7DE6-D998-371322619433}"/>
              </a:ext>
            </a:extLst>
          </p:cNvPr>
          <p:cNvSpPr>
            <a:spLocks noGrp="1"/>
          </p:cNvSpPr>
          <p:nvPr>
            <p:ph type="title"/>
          </p:nvPr>
        </p:nvSpPr>
        <p:spPr>
          <a:xfrm>
            <a:off x="762000" y="185058"/>
            <a:ext cx="6477000" cy="555172"/>
          </a:xfrm>
        </p:spPr>
        <p:txBody>
          <a:bodyPr/>
          <a:lstStyle/>
          <a:p>
            <a:r>
              <a:rPr lang="en-US" sz="2400" dirty="0"/>
              <a:t>Logistic Regression Findings</a:t>
            </a:r>
            <a:br>
              <a:rPr lang="en-US" dirty="0"/>
            </a:br>
            <a:endParaRPr lang="en-US" dirty="0"/>
          </a:p>
        </p:txBody>
      </p:sp>
      <p:sp>
        <p:nvSpPr>
          <p:cNvPr id="3" name="Text Placeholder 2">
            <a:extLst>
              <a:ext uri="{FF2B5EF4-FFF2-40B4-BE49-F238E27FC236}">
                <a16:creationId xmlns:a16="http://schemas.microsoft.com/office/drawing/2014/main" id="{C3C5461F-C31F-937B-CC91-142106D7604B}"/>
              </a:ext>
            </a:extLst>
          </p:cNvPr>
          <p:cNvSpPr>
            <a:spLocks noGrp="1"/>
          </p:cNvSpPr>
          <p:nvPr>
            <p:ph type="body" sz="quarter" idx="11"/>
          </p:nvPr>
        </p:nvSpPr>
        <p:spPr>
          <a:xfrm>
            <a:off x="762000" y="609600"/>
            <a:ext cx="6477000" cy="6248400"/>
          </a:xfrm>
        </p:spPr>
        <p:txBody>
          <a:bodyPr/>
          <a:lstStyle/>
          <a:p>
            <a:pPr marL="285750" indent="-285750">
              <a:buFont typeface="Arial" panose="020B0604020202020204" pitchFamily="34" charset="0"/>
              <a:buChar char="•"/>
            </a:pPr>
            <a:r>
              <a:rPr lang="en-US" b="0" i="0" dirty="0">
                <a:effectLst/>
                <a:latin typeface="system-ui"/>
              </a:rPr>
              <a:t>The confusion matrix shows that the logistic regression model performs reliably in predicting customer churn risk. Out of 6,255 test samples, it correctly identified 2,342 low-risk (true negatives) and 2,929 high-risk customers (true positives), while misclassifying 540 low-risk as high-risk (false positives) and 444 high-risk as low-risk (false negatives).</a:t>
            </a:r>
          </a:p>
          <a:p>
            <a:pPr marL="285750" indent="-285750">
              <a:buFont typeface="Arial" panose="020B0604020202020204" pitchFamily="34" charset="0"/>
              <a:buChar char="•"/>
            </a:pPr>
            <a:r>
              <a:rPr lang="en-US" b="0" i="0" dirty="0">
                <a:effectLst/>
                <a:latin typeface="system-ui"/>
              </a:rPr>
              <a:t> The precision for both classes is 0.84, meaning the model is accurate 84% of the time when it makes a prediction.</a:t>
            </a:r>
          </a:p>
          <a:p>
            <a:pPr marL="285750" indent="-285750">
              <a:buFont typeface="Arial" panose="020B0604020202020204" pitchFamily="34" charset="0"/>
              <a:buChar char="•"/>
            </a:pPr>
            <a:r>
              <a:rPr lang="en-US" b="0" i="0" dirty="0">
                <a:effectLst/>
                <a:latin typeface="system-ui"/>
              </a:rPr>
              <a:t> Recall is 0.81 for low-risk and 0.87 for high-risk customers, showing the model is especially good at identifying actual churners. </a:t>
            </a:r>
          </a:p>
          <a:p>
            <a:pPr marL="285750" indent="-285750">
              <a:buFont typeface="Arial" panose="020B0604020202020204" pitchFamily="34" charset="0"/>
              <a:buChar char="•"/>
            </a:pPr>
            <a:r>
              <a:rPr lang="en-US" b="0" i="0" dirty="0">
                <a:effectLst/>
                <a:latin typeface="system-ui"/>
              </a:rPr>
              <a:t>F1-scores of 0.83 for low-risk and 0.86 for high-risk, there's a solid balance between precision and recall.</a:t>
            </a:r>
          </a:p>
          <a:p>
            <a:pPr marL="285750" indent="-285750">
              <a:buFont typeface="Arial" panose="020B0604020202020204" pitchFamily="34" charset="0"/>
              <a:buChar char="•"/>
            </a:pPr>
            <a:r>
              <a:rPr lang="en-US" b="0" i="0" dirty="0">
                <a:effectLst/>
                <a:latin typeface="system-ui"/>
              </a:rPr>
              <a:t> Overall, the model </a:t>
            </a:r>
            <a:r>
              <a:rPr lang="en-US" b="0" dirty="0">
                <a:latin typeface="system-ui"/>
              </a:rPr>
              <a:t>has</a:t>
            </a:r>
            <a:r>
              <a:rPr lang="en-US" b="0" i="0" dirty="0">
                <a:effectLst/>
                <a:latin typeface="system-ui"/>
              </a:rPr>
              <a:t> accuracy of 84%, and the macro and weighted averages confirm consistent performance across both classes. This makes the model a strong and balanced tool for identifying churn risk in customers.</a:t>
            </a:r>
            <a:endParaRPr lang="en-US" dirty="0"/>
          </a:p>
        </p:txBody>
      </p:sp>
    </p:spTree>
    <p:extLst>
      <p:ext uri="{BB962C8B-B14F-4D97-AF65-F5344CB8AC3E}">
        <p14:creationId xmlns:p14="http://schemas.microsoft.com/office/powerpoint/2010/main" val="2794101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CF068-D0AC-8E9B-5B58-21F9DC55C89A}"/>
              </a:ext>
            </a:extLst>
          </p:cNvPr>
          <p:cNvSpPr>
            <a:spLocks noGrp="1"/>
          </p:cNvSpPr>
          <p:nvPr>
            <p:ph type="title"/>
          </p:nvPr>
        </p:nvSpPr>
        <p:spPr>
          <a:xfrm>
            <a:off x="762000" y="715961"/>
            <a:ext cx="6477000" cy="775382"/>
          </a:xfrm>
        </p:spPr>
        <p:txBody>
          <a:bodyPr/>
          <a:lstStyle/>
          <a:p>
            <a:r>
              <a:rPr lang="en-US" dirty="0"/>
              <a:t>Random Forest Model</a:t>
            </a:r>
          </a:p>
        </p:txBody>
      </p:sp>
      <p:sp>
        <p:nvSpPr>
          <p:cNvPr id="3" name="Text Placeholder 2">
            <a:extLst>
              <a:ext uri="{FF2B5EF4-FFF2-40B4-BE49-F238E27FC236}">
                <a16:creationId xmlns:a16="http://schemas.microsoft.com/office/drawing/2014/main" id="{EC18677F-CBE0-C553-05A4-320E26CEBA75}"/>
              </a:ext>
            </a:extLst>
          </p:cNvPr>
          <p:cNvSpPr>
            <a:spLocks noGrp="1"/>
          </p:cNvSpPr>
          <p:nvPr>
            <p:ph type="body" sz="quarter" idx="11"/>
          </p:nvPr>
        </p:nvSpPr>
        <p:spPr>
          <a:xfrm>
            <a:off x="762000" y="1904999"/>
            <a:ext cx="6340929" cy="4680857"/>
          </a:xfrm>
        </p:spPr>
        <p:txBody>
          <a:bodyPr/>
          <a:lstStyle/>
          <a:p>
            <a:pPr marL="285750" indent="-285750" algn="l">
              <a:buFont typeface="Arial" panose="020B0604020202020204" pitchFamily="34" charset="0"/>
              <a:buChar char="•"/>
            </a:pPr>
            <a:r>
              <a:rPr lang="en-US" sz="2400" b="0" dirty="0"/>
              <a:t>Random Forest captures more complex patterns in the data as it Handles both numerical and categorical data without scaling, captures non-linear relationships that Logistic Regression might miss.</a:t>
            </a:r>
          </a:p>
          <a:p>
            <a:pPr marL="285750" indent="-285750" algn="l">
              <a:buFont typeface="Arial" panose="020B0604020202020204" pitchFamily="34" charset="0"/>
              <a:buChar char="•"/>
            </a:pPr>
            <a:r>
              <a:rPr lang="en-US" sz="2400" b="0" dirty="0"/>
              <a:t>Reduces overfitting by averaging multiple decision trees. </a:t>
            </a:r>
          </a:p>
          <a:p>
            <a:pPr marL="285750" indent="-285750" algn="l">
              <a:buFont typeface="Arial" panose="020B0604020202020204" pitchFamily="34" charset="0"/>
              <a:buChar char="•"/>
            </a:pPr>
            <a:r>
              <a:rPr lang="en-US" sz="2400" b="0" dirty="0"/>
              <a:t>Provides feature importance to identify key churn indicators.</a:t>
            </a:r>
          </a:p>
          <a:p>
            <a:pPr marL="285750" indent="-285750" algn="l">
              <a:buFont typeface="Arial" panose="020B0604020202020204" pitchFamily="34" charset="0"/>
              <a:buChar char="•"/>
            </a:pPr>
            <a:r>
              <a:rPr lang="en-US" sz="2400" b="0" dirty="0"/>
              <a:t>The model strikes a balance between performance and interpretability</a:t>
            </a:r>
          </a:p>
        </p:txBody>
      </p:sp>
    </p:spTree>
    <p:extLst>
      <p:ext uri="{BB962C8B-B14F-4D97-AF65-F5344CB8AC3E}">
        <p14:creationId xmlns:p14="http://schemas.microsoft.com/office/powerpoint/2010/main" val="1988992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8FBE6B-DC67-4E64-80F4-CADE978D2FE3}"/>
              </a:ext>
            </a:extLst>
          </p:cNvPr>
          <p:cNvSpPr>
            <a:spLocks noGrp="1"/>
          </p:cNvSpPr>
          <p:nvPr>
            <p:ph type="title"/>
          </p:nvPr>
        </p:nvSpPr>
        <p:spPr>
          <a:xfrm>
            <a:off x="762000" y="715964"/>
            <a:ext cx="10591800" cy="646332"/>
          </a:xfrm>
        </p:spPr>
        <p:txBody>
          <a:bodyPr/>
          <a:lstStyle/>
          <a:p>
            <a:r>
              <a:rPr lang="en-US" dirty="0"/>
              <a:t>Random Forest Output</a:t>
            </a:r>
          </a:p>
        </p:txBody>
      </p:sp>
      <p:pic>
        <p:nvPicPr>
          <p:cNvPr id="7" name="Picture 6">
            <a:extLst>
              <a:ext uri="{FF2B5EF4-FFF2-40B4-BE49-F238E27FC236}">
                <a16:creationId xmlns:a16="http://schemas.microsoft.com/office/drawing/2014/main" id="{B739E09B-1169-406D-D4D7-ECBE88BCE0C6}"/>
              </a:ext>
            </a:extLst>
          </p:cNvPr>
          <p:cNvPicPr>
            <a:picLocks noChangeAspect="1"/>
          </p:cNvPicPr>
          <p:nvPr/>
        </p:nvPicPr>
        <p:blipFill>
          <a:blip r:embed="rId3"/>
          <a:stretch>
            <a:fillRect/>
          </a:stretch>
        </p:blipFill>
        <p:spPr>
          <a:xfrm>
            <a:off x="761538" y="1730829"/>
            <a:ext cx="10233033" cy="4040653"/>
          </a:xfrm>
          <a:prstGeom prst="rect">
            <a:avLst/>
          </a:prstGeom>
        </p:spPr>
      </p:pic>
      <p:pic>
        <p:nvPicPr>
          <p:cNvPr id="9" name="Picture 8">
            <a:extLst>
              <a:ext uri="{FF2B5EF4-FFF2-40B4-BE49-F238E27FC236}">
                <a16:creationId xmlns:a16="http://schemas.microsoft.com/office/drawing/2014/main" id="{6783FB72-250F-366E-CE02-D7BC3F570A10}"/>
              </a:ext>
            </a:extLst>
          </p:cNvPr>
          <p:cNvPicPr>
            <a:picLocks noChangeAspect="1"/>
          </p:cNvPicPr>
          <p:nvPr/>
        </p:nvPicPr>
        <p:blipFill>
          <a:blip r:embed="rId4"/>
          <a:stretch>
            <a:fillRect/>
          </a:stretch>
        </p:blipFill>
        <p:spPr>
          <a:xfrm>
            <a:off x="1197429" y="1362297"/>
            <a:ext cx="8425541" cy="2959332"/>
          </a:xfrm>
          <a:prstGeom prst="rect">
            <a:avLst/>
          </a:prstGeom>
        </p:spPr>
      </p:pic>
      <p:sp>
        <p:nvSpPr>
          <p:cNvPr id="10" name="TextBox 9">
            <a:extLst>
              <a:ext uri="{FF2B5EF4-FFF2-40B4-BE49-F238E27FC236}">
                <a16:creationId xmlns:a16="http://schemas.microsoft.com/office/drawing/2014/main" id="{F9F994F5-E4D8-3C83-A0E4-483DC6CB4E00}"/>
              </a:ext>
            </a:extLst>
          </p:cNvPr>
          <p:cNvSpPr txBox="1"/>
          <p:nvPr/>
        </p:nvSpPr>
        <p:spPr>
          <a:xfrm>
            <a:off x="761076" y="4356340"/>
            <a:ext cx="10233033" cy="1477328"/>
          </a:xfrm>
          <a:prstGeom prst="rect">
            <a:avLst/>
          </a:prstGeom>
          <a:noFill/>
        </p:spPr>
        <p:txBody>
          <a:bodyPr wrap="square" rtlCol="0">
            <a:spAutoFit/>
          </a:bodyPr>
          <a:lstStyle/>
          <a:p>
            <a:r>
              <a:rPr lang="en-US" dirty="0">
                <a:solidFill>
                  <a:schemeClr val="bg1"/>
                </a:solidFill>
              </a:rPr>
              <a:t>The Random Forest Classifier has demonstrated strong performance in predicting customer churn risk, achieving an overall accuracy of approximately 93.22%. The F1-scores of 0.92 for class 0 and 0.94 for class 1 confirm a strong balance between precision and recall. The macro and weighted averages are all at 0.93, reflecting consistent and balanced performance. Overall, the model appears to be highly reliable and well-suited for churn prediction</a:t>
            </a:r>
          </a:p>
        </p:txBody>
      </p:sp>
    </p:spTree>
    <p:extLst>
      <p:ext uri="{BB962C8B-B14F-4D97-AF65-F5344CB8AC3E}">
        <p14:creationId xmlns:p14="http://schemas.microsoft.com/office/powerpoint/2010/main" val="295767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1262CD5-AD01-42E3-9173-97C12BB0D9B8}"/>
              </a:ext>
            </a:extLst>
          </p:cNvPr>
          <p:cNvSpPr>
            <a:spLocks noGrp="1"/>
          </p:cNvSpPr>
          <p:nvPr>
            <p:ph type="title"/>
          </p:nvPr>
        </p:nvSpPr>
        <p:spPr>
          <a:xfrm>
            <a:off x="5199742" y="141515"/>
            <a:ext cx="6477000" cy="685799"/>
          </a:xfrm>
        </p:spPr>
        <p:txBody>
          <a:bodyPr>
            <a:normAutofit fontScale="90000"/>
          </a:bodyPr>
          <a:lstStyle/>
          <a:p>
            <a:r>
              <a:rPr lang="en-US" dirty="0"/>
              <a:t>Confusion Matrix</a:t>
            </a:r>
            <a:br>
              <a:rPr lang="en-US" dirty="0"/>
            </a:br>
            <a:endParaRPr lang="en-US" dirty="0"/>
          </a:p>
        </p:txBody>
      </p:sp>
      <p:pic>
        <p:nvPicPr>
          <p:cNvPr id="4" name="Picture 3">
            <a:extLst>
              <a:ext uri="{FF2B5EF4-FFF2-40B4-BE49-F238E27FC236}">
                <a16:creationId xmlns:a16="http://schemas.microsoft.com/office/drawing/2014/main" id="{CA41C1E4-2954-083A-AA09-DE090B8DA880}"/>
              </a:ext>
            </a:extLst>
          </p:cNvPr>
          <p:cNvPicPr>
            <a:picLocks noChangeAspect="1"/>
          </p:cNvPicPr>
          <p:nvPr/>
        </p:nvPicPr>
        <p:blipFill>
          <a:blip r:embed="rId2"/>
          <a:stretch>
            <a:fillRect/>
          </a:stretch>
        </p:blipFill>
        <p:spPr>
          <a:xfrm>
            <a:off x="4920343" y="827314"/>
            <a:ext cx="6379029" cy="4159795"/>
          </a:xfrm>
          <a:prstGeom prst="rect">
            <a:avLst/>
          </a:prstGeom>
        </p:spPr>
      </p:pic>
      <p:sp>
        <p:nvSpPr>
          <p:cNvPr id="7" name="TextBox 6">
            <a:extLst>
              <a:ext uri="{FF2B5EF4-FFF2-40B4-BE49-F238E27FC236}">
                <a16:creationId xmlns:a16="http://schemas.microsoft.com/office/drawing/2014/main" id="{D8402FDB-468E-D149-7DA2-E55A5CF5E062}"/>
              </a:ext>
            </a:extLst>
          </p:cNvPr>
          <p:cNvSpPr txBox="1"/>
          <p:nvPr/>
        </p:nvSpPr>
        <p:spPr>
          <a:xfrm>
            <a:off x="4920343" y="4778829"/>
            <a:ext cx="6466114" cy="1200329"/>
          </a:xfrm>
          <a:prstGeom prst="rect">
            <a:avLst/>
          </a:prstGeom>
          <a:noFill/>
        </p:spPr>
        <p:txBody>
          <a:bodyPr wrap="square" rtlCol="0">
            <a:spAutoFit/>
          </a:bodyPr>
          <a:lstStyle/>
          <a:p>
            <a:r>
              <a:rPr lang="en-US" dirty="0">
                <a:solidFill>
                  <a:schemeClr val="bg1"/>
                </a:solidFill>
              </a:rPr>
              <a:t>The model shows high precision and recall for both classes. For low-risk customers (class 0), the precision is 0.95 and recall is 0.91, meaning that the model accurately predicts non-churners most of the time but misses a small portion.</a:t>
            </a:r>
          </a:p>
        </p:txBody>
      </p:sp>
    </p:spTree>
    <p:extLst>
      <p:ext uri="{BB962C8B-B14F-4D97-AF65-F5344CB8AC3E}">
        <p14:creationId xmlns:p14="http://schemas.microsoft.com/office/powerpoint/2010/main" val="394783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18C6B5-87AC-4DA5-94CA-6E092A6A07D3}"/>
              </a:ext>
            </a:extLst>
          </p:cNvPr>
          <p:cNvSpPr>
            <a:spLocks noGrp="1"/>
          </p:cNvSpPr>
          <p:nvPr>
            <p:ph type="title"/>
          </p:nvPr>
        </p:nvSpPr>
        <p:spPr>
          <a:xfrm>
            <a:off x="968829" y="0"/>
            <a:ext cx="10591800" cy="646332"/>
          </a:xfrm>
        </p:spPr>
        <p:txBody>
          <a:bodyPr/>
          <a:lstStyle/>
          <a:p>
            <a:r>
              <a:rPr lang="en-US" sz="2800" dirty="0">
                <a:solidFill>
                  <a:schemeClr val="bg1"/>
                </a:solidFill>
              </a:rPr>
              <a:t>Which variables are the highest predictors of churn?</a:t>
            </a:r>
          </a:p>
        </p:txBody>
      </p:sp>
      <p:pic>
        <p:nvPicPr>
          <p:cNvPr id="6" name="Picture 5">
            <a:extLst>
              <a:ext uri="{FF2B5EF4-FFF2-40B4-BE49-F238E27FC236}">
                <a16:creationId xmlns:a16="http://schemas.microsoft.com/office/drawing/2014/main" id="{7C4DEFD9-87F3-D8D2-EDCC-48CBE0123613}"/>
              </a:ext>
            </a:extLst>
          </p:cNvPr>
          <p:cNvPicPr>
            <a:picLocks noChangeAspect="1"/>
          </p:cNvPicPr>
          <p:nvPr/>
        </p:nvPicPr>
        <p:blipFill>
          <a:blip r:embed="rId2"/>
          <a:stretch>
            <a:fillRect/>
          </a:stretch>
        </p:blipFill>
        <p:spPr>
          <a:xfrm>
            <a:off x="206827" y="508223"/>
            <a:ext cx="8066314" cy="5304873"/>
          </a:xfrm>
          <a:prstGeom prst="rect">
            <a:avLst/>
          </a:prstGeom>
        </p:spPr>
      </p:pic>
    </p:spTree>
    <p:extLst>
      <p:ext uri="{BB962C8B-B14F-4D97-AF65-F5344CB8AC3E}">
        <p14:creationId xmlns:p14="http://schemas.microsoft.com/office/powerpoint/2010/main" val="1470979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57EE342-29C5-5639-01B3-12956B01E6D5}"/>
              </a:ext>
            </a:extLst>
          </p:cNvPr>
          <p:cNvSpPr txBox="1"/>
          <p:nvPr/>
        </p:nvSpPr>
        <p:spPr>
          <a:xfrm>
            <a:off x="751114" y="1317172"/>
            <a:ext cx="8556171" cy="4247317"/>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The feature with the highest importance by far is points in wallet (0.35), indicating that the number of points a customer has in their wallet plays a major role in determining churn risk. This suggests that customers with more loyalty or reward points are less likely to churn, possibly because they’re more engaged or have incentives to stay.</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Next in line are membership categories, These indicate that membership level strongly influences churn behavior, with different tiers carrying different retention patterns.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Other transactional features like average transaction value and its standard deviation also show up as important (~0.04 each), meaning spending behavior has a solid link to churn likelihood. Similarly, Gold and Silver memberships contribute to the prediction, though with slightly less impact.</a:t>
            </a:r>
          </a:p>
          <a:p>
            <a:endParaRPr lang="en-US"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712CB-2DA8-064A-C642-E1DE5BB791A2}"/>
              </a:ext>
            </a:extLst>
          </p:cNvPr>
          <p:cNvSpPr>
            <a:spLocks noGrp="1"/>
          </p:cNvSpPr>
          <p:nvPr>
            <p:ph type="title"/>
          </p:nvPr>
        </p:nvSpPr>
        <p:spPr/>
        <p:txBody>
          <a:bodyPr/>
          <a:lstStyle/>
          <a:p>
            <a:r>
              <a:rPr lang="en-US" dirty="0">
                <a:solidFill>
                  <a:srgbClr val="0070C0"/>
                </a:solidFill>
              </a:rPr>
              <a:t>XG Boost Model</a:t>
            </a:r>
            <a:endParaRPr lang="en-US" dirty="0"/>
          </a:p>
        </p:txBody>
      </p:sp>
      <p:sp>
        <p:nvSpPr>
          <p:cNvPr id="3" name="Text Placeholder 2">
            <a:extLst>
              <a:ext uri="{FF2B5EF4-FFF2-40B4-BE49-F238E27FC236}">
                <a16:creationId xmlns:a16="http://schemas.microsoft.com/office/drawing/2014/main" id="{DFA2C797-0312-E0E1-1039-81E001DE6DC2}"/>
              </a:ext>
            </a:extLst>
          </p:cNvPr>
          <p:cNvSpPr>
            <a:spLocks noGrp="1"/>
          </p:cNvSpPr>
          <p:nvPr>
            <p:ph type="body" sz="quarter" idx="11"/>
          </p:nvPr>
        </p:nvSpPr>
        <p:spPr>
          <a:xfrm>
            <a:off x="762000" y="1904999"/>
            <a:ext cx="6477000" cy="4237039"/>
          </a:xfrm>
        </p:spPr>
        <p:txBody>
          <a:bodyPr/>
          <a:lstStyle/>
          <a:p>
            <a:r>
              <a:rPr lang="en-US" sz="2400" dirty="0" err="1"/>
              <a:t>XGBoost</a:t>
            </a:r>
            <a:r>
              <a:rPr lang="en-US" sz="2400" dirty="0"/>
              <a:t> (Extreme Gradient Boosting</a:t>
            </a:r>
            <a:r>
              <a:rPr lang="en-US" sz="2400" b="0" dirty="0"/>
              <a:t>) is a machine learning algorithm based on the gradient boosting framework. It’s widely used for classification and regression tasks, especially in structured/tabular data.</a:t>
            </a:r>
          </a:p>
          <a:p>
            <a:r>
              <a:rPr lang="en-US" sz="2400" dirty="0"/>
              <a:t>Advantages</a:t>
            </a:r>
          </a:p>
          <a:p>
            <a:pPr marL="285750" indent="-285750">
              <a:buFont typeface="Arial" panose="020B0604020202020204" pitchFamily="34" charset="0"/>
              <a:buChar char="•"/>
            </a:pPr>
            <a:r>
              <a:rPr lang="en-US" sz="2400" b="0" dirty="0"/>
              <a:t>High Speed</a:t>
            </a:r>
          </a:p>
          <a:p>
            <a:pPr marL="285750" indent="-285750">
              <a:buFont typeface="Arial" panose="020B0604020202020204" pitchFamily="34" charset="0"/>
              <a:buChar char="•"/>
            </a:pPr>
            <a:r>
              <a:rPr lang="en-US" sz="2400" b="0" dirty="0"/>
              <a:t>High Accuracy</a:t>
            </a:r>
          </a:p>
          <a:p>
            <a:pPr marL="285750" indent="-285750">
              <a:buFont typeface="Arial" panose="020B0604020202020204" pitchFamily="34" charset="0"/>
              <a:buChar char="•"/>
            </a:pPr>
            <a:r>
              <a:rPr lang="en-US" sz="2400" b="0" dirty="0"/>
              <a:t>High scalability</a:t>
            </a:r>
          </a:p>
        </p:txBody>
      </p:sp>
    </p:spTree>
    <p:extLst>
      <p:ext uri="{BB962C8B-B14F-4D97-AF65-F5344CB8AC3E}">
        <p14:creationId xmlns:p14="http://schemas.microsoft.com/office/powerpoint/2010/main" val="1266998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02AD8E-4C7C-4A1B-89B1-9A0997F4F30E}"/>
              </a:ext>
            </a:extLst>
          </p:cNvPr>
          <p:cNvSpPr>
            <a:spLocks noGrp="1"/>
          </p:cNvSpPr>
          <p:nvPr>
            <p:ph type="title"/>
          </p:nvPr>
        </p:nvSpPr>
        <p:spPr>
          <a:xfrm>
            <a:off x="762000" y="348344"/>
            <a:ext cx="6477000" cy="751114"/>
          </a:xfrm>
        </p:spPr>
        <p:txBody>
          <a:bodyPr/>
          <a:lstStyle/>
          <a:p>
            <a:r>
              <a:rPr lang="en-US" dirty="0">
                <a:solidFill>
                  <a:srgbClr val="0070C0"/>
                </a:solidFill>
              </a:rPr>
              <a:t>XG Boost Model</a:t>
            </a:r>
          </a:p>
        </p:txBody>
      </p:sp>
      <p:sp>
        <p:nvSpPr>
          <p:cNvPr id="2" name="Text Placeholder 1">
            <a:extLst>
              <a:ext uri="{FF2B5EF4-FFF2-40B4-BE49-F238E27FC236}">
                <a16:creationId xmlns:a16="http://schemas.microsoft.com/office/drawing/2014/main" id="{25A8ACB1-6D36-496B-91DD-D1C3128C1C73}"/>
              </a:ext>
            </a:extLst>
          </p:cNvPr>
          <p:cNvSpPr>
            <a:spLocks noGrp="1"/>
          </p:cNvSpPr>
          <p:nvPr>
            <p:ph type="body" sz="quarter" idx="11"/>
          </p:nvPr>
        </p:nvSpPr>
        <p:spPr>
          <a:xfrm>
            <a:off x="762000" y="1099458"/>
            <a:ext cx="6477000" cy="3320142"/>
          </a:xfrm>
        </p:spPr>
        <p:txBody>
          <a:bodyPr/>
          <a:lstStyle/>
          <a:p>
            <a:r>
              <a:rPr lang="en-US" dirty="0"/>
              <a:t>Model Results</a:t>
            </a:r>
          </a:p>
        </p:txBody>
      </p:sp>
      <p:pic>
        <p:nvPicPr>
          <p:cNvPr id="5" name="Picture 4">
            <a:extLst>
              <a:ext uri="{FF2B5EF4-FFF2-40B4-BE49-F238E27FC236}">
                <a16:creationId xmlns:a16="http://schemas.microsoft.com/office/drawing/2014/main" id="{F4C268F2-0FC2-678E-19CA-300D8E6DD8F9}"/>
              </a:ext>
            </a:extLst>
          </p:cNvPr>
          <p:cNvPicPr>
            <a:picLocks noChangeAspect="1"/>
          </p:cNvPicPr>
          <p:nvPr/>
        </p:nvPicPr>
        <p:blipFill>
          <a:blip r:embed="rId2"/>
          <a:stretch>
            <a:fillRect/>
          </a:stretch>
        </p:blipFill>
        <p:spPr>
          <a:xfrm>
            <a:off x="762000" y="1560246"/>
            <a:ext cx="5878284" cy="2696068"/>
          </a:xfrm>
          <a:prstGeom prst="rect">
            <a:avLst/>
          </a:prstGeom>
        </p:spPr>
      </p:pic>
      <p:sp>
        <p:nvSpPr>
          <p:cNvPr id="6" name="TextBox 5">
            <a:extLst>
              <a:ext uri="{FF2B5EF4-FFF2-40B4-BE49-F238E27FC236}">
                <a16:creationId xmlns:a16="http://schemas.microsoft.com/office/drawing/2014/main" id="{DF52EAB7-B046-7D57-BCA9-9698CEC13024}"/>
              </a:ext>
            </a:extLst>
          </p:cNvPr>
          <p:cNvSpPr txBox="1"/>
          <p:nvPr/>
        </p:nvSpPr>
        <p:spPr>
          <a:xfrm>
            <a:off x="664029" y="4506686"/>
            <a:ext cx="5878284" cy="923330"/>
          </a:xfrm>
          <a:prstGeom prst="rect">
            <a:avLst/>
          </a:prstGeom>
          <a:noFill/>
        </p:spPr>
        <p:txBody>
          <a:bodyPr wrap="square" rtlCol="0">
            <a:spAutoFit/>
          </a:bodyPr>
          <a:lstStyle/>
          <a:p>
            <a:r>
              <a:rPr lang="en-US" dirty="0">
                <a:solidFill>
                  <a:srgbClr val="050607"/>
                </a:solidFill>
              </a:rPr>
              <a:t>The </a:t>
            </a:r>
            <a:r>
              <a:rPr lang="en-US" dirty="0" err="1">
                <a:solidFill>
                  <a:srgbClr val="050607"/>
                </a:solidFill>
              </a:rPr>
              <a:t>XGBoost</a:t>
            </a:r>
            <a:r>
              <a:rPr lang="en-US" dirty="0">
                <a:solidFill>
                  <a:srgbClr val="050607"/>
                </a:solidFill>
              </a:rPr>
              <a:t> model achieved an accuracy of 93.4%, indicating strong overall performance in predicting customer churn.</a:t>
            </a:r>
          </a:p>
        </p:txBody>
      </p:sp>
    </p:spTree>
    <p:extLst>
      <p:ext uri="{BB962C8B-B14F-4D97-AF65-F5344CB8AC3E}">
        <p14:creationId xmlns:p14="http://schemas.microsoft.com/office/powerpoint/2010/main" val="1430663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DC530-1EA1-B488-2EC4-FADECD41D81F}"/>
              </a:ext>
            </a:extLst>
          </p:cNvPr>
          <p:cNvSpPr>
            <a:spLocks noGrp="1"/>
          </p:cNvSpPr>
          <p:nvPr>
            <p:ph type="title"/>
          </p:nvPr>
        </p:nvSpPr>
        <p:spPr>
          <a:xfrm>
            <a:off x="762000" y="715961"/>
            <a:ext cx="6477000" cy="535896"/>
          </a:xfrm>
        </p:spPr>
        <p:txBody>
          <a:bodyPr/>
          <a:lstStyle/>
          <a:p>
            <a:r>
              <a:rPr lang="en-US" sz="2800" dirty="0">
                <a:solidFill>
                  <a:schemeClr val="bg1"/>
                </a:solidFill>
              </a:rPr>
              <a:t>Confusion Matrix</a:t>
            </a:r>
          </a:p>
        </p:txBody>
      </p:sp>
      <p:pic>
        <p:nvPicPr>
          <p:cNvPr id="5" name="Picture 4">
            <a:extLst>
              <a:ext uri="{FF2B5EF4-FFF2-40B4-BE49-F238E27FC236}">
                <a16:creationId xmlns:a16="http://schemas.microsoft.com/office/drawing/2014/main" id="{0A756299-FBFE-2CEE-E1D5-8458786F811A}"/>
              </a:ext>
            </a:extLst>
          </p:cNvPr>
          <p:cNvPicPr>
            <a:picLocks noChangeAspect="1"/>
          </p:cNvPicPr>
          <p:nvPr/>
        </p:nvPicPr>
        <p:blipFill>
          <a:blip r:embed="rId2"/>
          <a:stretch>
            <a:fillRect/>
          </a:stretch>
        </p:blipFill>
        <p:spPr>
          <a:xfrm>
            <a:off x="1066799" y="1212508"/>
            <a:ext cx="5301344" cy="3120006"/>
          </a:xfrm>
          <a:prstGeom prst="rect">
            <a:avLst/>
          </a:prstGeom>
        </p:spPr>
      </p:pic>
      <p:sp>
        <p:nvSpPr>
          <p:cNvPr id="7" name="TextBox 6">
            <a:extLst>
              <a:ext uri="{FF2B5EF4-FFF2-40B4-BE49-F238E27FC236}">
                <a16:creationId xmlns:a16="http://schemas.microsoft.com/office/drawing/2014/main" id="{028868EE-90AC-74D4-7860-D61BE33B7DDB}"/>
              </a:ext>
            </a:extLst>
          </p:cNvPr>
          <p:cNvSpPr txBox="1"/>
          <p:nvPr/>
        </p:nvSpPr>
        <p:spPr>
          <a:xfrm>
            <a:off x="762001" y="4332514"/>
            <a:ext cx="6477000" cy="1477328"/>
          </a:xfrm>
          <a:prstGeom prst="rect">
            <a:avLst/>
          </a:prstGeom>
          <a:noFill/>
        </p:spPr>
        <p:txBody>
          <a:bodyPr wrap="square">
            <a:spAutoFit/>
          </a:bodyPr>
          <a:lstStyle/>
          <a:p>
            <a:r>
              <a:rPr lang="en-US" dirty="0">
                <a:solidFill>
                  <a:schemeClr val="bg1"/>
                </a:solidFill>
              </a:rPr>
              <a:t>This confusion matrix shows the model correctly predicted 2,626 non-churn cases and 3,216 churn cases, with 157 false positives and 257 false negatives. The higher true positive rate aligns with the classification report’s 95% recall for churn, indicating strong detection of at-risk customers. </a:t>
            </a:r>
          </a:p>
        </p:txBody>
      </p:sp>
    </p:spTree>
    <p:extLst>
      <p:ext uri="{BB962C8B-B14F-4D97-AF65-F5344CB8AC3E}">
        <p14:creationId xmlns:p14="http://schemas.microsoft.com/office/powerpoint/2010/main" val="791425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DF174-ABD4-61A8-6D54-80B6BA32CD66}"/>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9EF04F5F-2850-A8EF-EAE1-FF9BE9A278BD}"/>
              </a:ext>
            </a:extLst>
          </p:cNvPr>
          <p:cNvPicPr>
            <a:picLocks noChangeAspect="1"/>
          </p:cNvPicPr>
          <p:nvPr/>
        </p:nvPicPr>
        <p:blipFill>
          <a:blip r:embed="rId2"/>
          <a:stretch>
            <a:fillRect/>
          </a:stretch>
        </p:blipFill>
        <p:spPr>
          <a:xfrm>
            <a:off x="434395" y="195943"/>
            <a:ext cx="10321724" cy="6662057"/>
          </a:xfrm>
          <a:prstGeom prst="rect">
            <a:avLst/>
          </a:prstGeom>
        </p:spPr>
      </p:pic>
    </p:spTree>
    <p:extLst>
      <p:ext uri="{BB962C8B-B14F-4D97-AF65-F5344CB8AC3E}">
        <p14:creationId xmlns:p14="http://schemas.microsoft.com/office/powerpoint/2010/main" val="292373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8A18C-8135-74D7-1BC8-8AFFB6227165}"/>
              </a:ext>
            </a:extLst>
          </p:cNvPr>
          <p:cNvSpPr>
            <a:spLocks noGrp="1"/>
          </p:cNvSpPr>
          <p:nvPr>
            <p:ph type="title"/>
          </p:nvPr>
        </p:nvSpPr>
        <p:spPr>
          <a:xfrm>
            <a:off x="762000" y="715961"/>
            <a:ext cx="6477000" cy="525010"/>
          </a:xfrm>
        </p:spPr>
        <p:txBody>
          <a:bodyPr/>
          <a:lstStyle/>
          <a:p>
            <a:r>
              <a:rPr lang="en-US" sz="2400" dirty="0" err="1">
                <a:solidFill>
                  <a:srgbClr val="0070C0"/>
                </a:solidFill>
              </a:rPr>
              <a:t>Xg</a:t>
            </a:r>
            <a:r>
              <a:rPr lang="en-US" sz="2400" dirty="0">
                <a:solidFill>
                  <a:srgbClr val="0070C0"/>
                </a:solidFill>
              </a:rPr>
              <a:t>-Boost Feature Importance analysis</a:t>
            </a:r>
          </a:p>
        </p:txBody>
      </p:sp>
      <p:sp>
        <p:nvSpPr>
          <p:cNvPr id="3" name="Text Placeholder 2">
            <a:extLst>
              <a:ext uri="{FF2B5EF4-FFF2-40B4-BE49-F238E27FC236}">
                <a16:creationId xmlns:a16="http://schemas.microsoft.com/office/drawing/2014/main" id="{29EFFD9A-CCAE-8035-D78F-0939F3A9E0A2}"/>
              </a:ext>
            </a:extLst>
          </p:cNvPr>
          <p:cNvSpPr>
            <a:spLocks noGrp="1"/>
          </p:cNvSpPr>
          <p:nvPr>
            <p:ph type="body" sz="quarter" idx="11"/>
          </p:nvPr>
        </p:nvSpPr>
        <p:spPr>
          <a:xfrm>
            <a:off x="762000" y="1240971"/>
            <a:ext cx="6477000" cy="3940629"/>
          </a:xfrm>
        </p:spPr>
        <p:txBody>
          <a:bodyPr/>
          <a:lstStyle/>
          <a:p>
            <a:pPr marL="285750" indent="-285750">
              <a:buFont typeface="Arial" panose="020B0604020202020204" pitchFamily="34" charset="0"/>
              <a:buChar char="•"/>
            </a:pPr>
            <a:r>
              <a:rPr lang="en-US" b="0" dirty="0"/>
              <a:t>It reveals that membership category (especially Basic and Premium) and points in wallet are the strongest predictors of churn, with high importance scores (0.125–0.075). Other influential factors include transaction value, customer feedback, and login behavior.</a:t>
            </a:r>
          </a:p>
          <a:p>
            <a:pPr marL="285750" indent="-285750">
              <a:buFont typeface="Arial" panose="020B0604020202020204" pitchFamily="34" charset="0"/>
              <a:buChar char="•"/>
            </a:pPr>
            <a:r>
              <a:rPr lang="en-US" b="0" dirty="0"/>
              <a:t>Operational factors like medium_of_operation_Smartphone and unresolved complaints also contribute, though with lower impact. This suggests that subscription tier, financial incentives, and service quality are key drivers of customer retention.</a:t>
            </a:r>
          </a:p>
        </p:txBody>
      </p:sp>
    </p:spTree>
    <p:extLst>
      <p:ext uri="{BB962C8B-B14F-4D97-AF65-F5344CB8AC3E}">
        <p14:creationId xmlns:p14="http://schemas.microsoft.com/office/powerpoint/2010/main" val="283632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42717-42ED-3D76-64EB-28B43A7F8962}"/>
              </a:ext>
            </a:extLst>
          </p:cNvPr>
          <p:cNvSpPr>
            <a:spLocks noGrp="1"/>
          </p:cNvSpPr>
          <p:nvPr>
            <p:ph type="title"/>
          </p:nvPr>
        </p:nvSpPr>
        <p:spPr>
          <a:xfrm>
            <a:off x="762000" y="715961"/>
            <a:ext cx="6477000" cy="818925"/>
          </a:xfrm>
        </p:spPr>
        <p:txBody>
          <a:bodyPr/>
          <a:lstStyle/>
          <a:p>
            <a:r>
              <a:rPr lang="en-US" sz="2400" dirty="0">
                <a:solidFill>
                  <a:srgbClr val="0070C0"/>
                </a:solidFill>
              </a:rPr>
              <a:t>XG-Boost Model inculcating </a:t>
            </a:r>
            <a:r>
              <a:rPr lang="en-US" sz="2400" dirty="0" err="1">
                <a:solidFill>
                  <a:srgbClr val="0070C0"/>
                </a:solidFill>
              </a:rPr>
              <a:t>RandomizedSearchCV</a:t>
            </a:r>
            <a:br>
              <a:rPr lang="en-US" sz="2400" b="0" dirty="0"/>
            </a:br>
            <a:endParaRPr lang="en-US" sz="2400" dirty="0"/>
          </a:p>
        </p:txBody>
      </p:sp>
      <p:sp>
        <p:nvSpPr>
          <p:cNvPr id="3" name="Text Placeholder 2">
            <a:extLst>
              <a:ext uri="{FF2B5EF4-FFF2-40B4-BE49-F238E27FC236}">
                <a16:creationId xmlns:a16="http://schemas.microsoft.com/office/drawing/2014/main" id="{794FEF75-9CCA-E4DB-5E41-7CDE1F5DF26A}"/>
              </a:ext>
            </a:extLst>
          </p:cNvPr>
          <p:cNvSpPr>
            <a:spLocks noGrp="1"/>
          </p:cNvSpPr>
          <p:nvPr>
            <p:ph type="body" sz="quarter" idx="11"/>
          </p:nvPr>
        </p:nvSpPr>
        <p:spPr>
          <a:xfrm>
            <a:off x="870857" y="1534886"/>
            <a:ext cx="6477000" cy="3276600"/>
          </a:xfrm>
        </p:spPr>
        <p:txBody>
          <a:bodyPr/>
          <a:lstStyle/>
          <a:p>
            <a:r>
              <a:rPr lang="en-US" dirty="0"/>
              <a:t>Model Results</a:t>
            </a:r>
          </a:p>
        </p:txBody>
      </p:sp>
      <p:pic>
        <p:nvPicPr>
          <p:cNvPr id="5" name="Picture 4">
            <a:extLst>
              <a:ext uri="{FF2B5EF4-FFF2-40B4-BE49-F238E27FC236}">
                <a16:creationId xmlns:a16="http://schemas.microsoft.com/office/drawing/2014/main" id="{207484BF-F682-1AED-B1A4-080A1DF74ABA}"/>
              </a:ext>
            </a:extLst>
          </p:cNvPr>
          <p:cNvPicPr>
            <a:picLocks noChangeAspect="1"/>
          </p:cNvPicPr>
          <p:nvPr/>
        </p:nvPicPr>
        <p:blipFill>
          <a:blip r:embed="rId2"/>
          <a:stretch>
            <a:fillRect/>
          </a:stretch>
        </p:blipFill>
        <p:spPr>
          <a:xfrm>
            <a:off x="685800" y="1964872"/>
            <a:ext cx="6215743" cy="3358242"/>
          </a:xfrm>
          <a:prstGeom prst="rect">
            <a:avLst/>
          </a:prstGeom>
        </p:spPr>
      </p:pic>
      <p:sp>
        <p:nvSpPr>
          <p:cNvPr id="10" name="TextBox 9">
            <a:extLst>
              <a:ext uri="{FF2B5EF4-FFF2-40B4-BE49-F238E27FC236}">
                <a16:creationId xmlns:a16="http://schemas.microsoft.com/office/drawing/2014/main" id="{40A576C5-EE42-24D1-EC89-54F961F579A2}"/>
              </a:ext>
            </a:extLst>
          </p:cNvPr>
          <p:cNvSpPr txBox="1"/>
          <p:nvPr/>
        </p:nvSpPr>
        <p:spPr>
          <a:xfrm>
            <a:off x="870857" y="5323114"/>
            <a:ext cx="6150429" cy="923330"/>
          </a:xfrm>
          <a:prstGeom prst="rect">
            <a:avLst/>
          </a:prstGeom>
          <a:noFill/>
        </p:spPr>
        <p:txBody>
          <a:bodyPr wrap="square" rtlCol="0">
            <a:spAutoFit/>
          </a:bodyPr>
          <a:lstStyle/>
          <a:p>
            <a:r>
              <a:rPr lang="en-US">
                <a:solidFill>
                  <a:schemeClr val="bg1"/>
                </a:solidFill>
              </a:rPr>
              <a:t>The tuned model performs nearly the same as the original one, with both achieving 93% accuracy and similar F1-scores. </a:t>
            </a:r>
            <a:endParaRPr lang="en-US" dirty="0">
              <a:solidFill>
                <a:schemeClr val="bg1"/>
              </a:solidFill>
            </a:endParaRPr>
          </a:p>
        </p:txBody>
      </p:sp>
    </p:spTree>
    <p:extLst>
      <p:ext uri="{BB962C8B-B14F-4D97-AF65-F5344CB8AC3E}">
        <p14:creationId xmlns:p14="http://schemas.microsoft.com/office/powerpoint/2010/main" val="2632922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A0D0D-0F05-4BE8-452E-558FBD34DAB9}"/>
              </a:ext>
            </a:extLst>
          </p:cNvPr>
          <p:cNvSpPr>
            <a:spLocks noGrp="1"/>
          </p:cNvSpPr>
          <p:nvPr>
            <p:ph type="title"/>
          </p:nvPr>
        </p:nvSpPr>
        <p:spPr/>
        <p:txBody>
          <a:bodyPr/>
          <a:lstStyle/>
          <a:p>
            <a:r>
              <a:rPr lang="en-US" sz="3200" dirty="0">
                <a:solidFill>
                  <a:srgbClr val="00B0F0"/>
                </a:solidFill>
              </a:rPr>
              <a:t>Multilayer Perceptron Neural Network Model (MLP)</a:t>
            </a:r>
          </a:p>
        </p:txBody>
      </p:sp>
      <p:sp>
        <p:nvSpPr>
          <p:cNvPr id="3" name="Text Placeholder 2">
            <a:extLst>
              <a:ext uri="{FF2B5EF4-FFF2-40B4-BE49-F238E27FC236}">
                <a16:creationId xmlns:a16="http://schemas.microsoft.com/office/drawing/2014/main" id="{A2B79701-9A4C-59A6-1EB8-DD07FF029206}"/>
              </a:ext>
            </a:extLst>
          </p:cNvPr>
          <p:cNvSpPr>
            <a:spLocks noGrp="1"/>
          </p:cNvSpPr>
          <p:nvPr>
            <p:ph type="body" sz="quarter" idx="11"/>
          </p:nvPr>
        </p:nvSpPr>
        <p:spPr/>
        <p:txBody>
          <a:bodyPr/>
          <a:lstStyle/>
          <a:p>
            <a:r>
              <a:rPr lang="en-US" sz="2400" dirty="0"/>
              <a:t>A Multilayer Perceptron (MLP) </a:t>
            </a:r>
            <a:r>
              <a:rPr lang="en-US" sz="2400" b="0" dirty="0"/>
              <a:t>is a class of feedforward artificial neural network. It's one of the simplest and most widely used types of neural networks, especially for classification and regression tasks on structured/tabular data</a:t>
            </a:r>
          </a:p>
        </p:txBody>
      </p:sp>
    </p:spTree>
    <p:extLst>
      <p:ext uri="{BB962C8B-B14F-4D97-AF65-F5344CB8AC3E}">
        <p14:creationId xmlns:p14="http://schemas.microsoft.com/office/powerpoint/2010/main" val="2636776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907FD-A1A8-3EC3-376E-47AD341C18B8}"/>
              </a:ext>
            </a:extLst>
          </p:cNvPr>
          <p:cNvSpPr>
            <a:spLocks noGrp="1"/>
          </p:cNvSpPr>
          <p:nvPr>
            <p:ph type="title"/>
          </p:nvPr>
        </p:nvSpPr>
        <p:spPr/>
        <p:txBody>
          <a:bodyPr/>
          <a:lstStyle/>
          <a:p>
            <a:r>
              <a:rPr lang="en-US" dirty="0">
                <a:solidFill>
                  <a:srgbClr val="00B0F0"/>
                </a:solidFill>
              </a:rPr>
              <a:t>Model Output</a:t>
            </a:r>
          </a:p>
        </p:txBody>
      </p:sp>
      <p:sp>
        <p:nvSpPr>
          <p:cNvPr id="3" name="Text Placeholder 2">
            <a:extLst>
              <a:ext uri="{FF2B5EF4-FFF2-40B4-BE49-F238E27FC236}">
                <a16:creationId xmlns:a16="http://schemas.microsoft.com/office/drawing/2014/main" id="{F712448F-F03D-6FA8-537F-BF0305B866D6}"/>
              </a:ext>
            </a:extLst>
          </p:cNvPr>
          <p:cNvSpPr>
            <a:spLocks noGrp="1"/>
          </p:cNvSpPr>
          <p:nvPr>
            <p:ph type="body" sz="quarter" idx="11"/>
          </p:nvPr>
        </p:nvSpPr>
        <p:spPr>
          <a:xfrm>
            <a:off x="762000" y="1905000"/>
            <a:ext cx="6477000" cy="2601686"/>
          </a:xfrm>
        </p:spPr>
        <p:txBody>
          <a:bodyPr/>
          <a:lstStyle/>
          <a:p>
            <a:endParaRPr lang="en-US" dirty="0"/>
          </a:p>
        </p:txBody>
      </p:sp>
      <p:pic>
        <p:nvPicPr>
          <p:cNvPr id="5" name="Picture 4">
            <a:extLst>
              <a:ext uri="{FF2B5EF4-FFF2-40B4-BE49-F238E27FC236}">
                <a16:creationId xmlns:a16="http://schemas.microsoft.com/office/drawing/2014/main" id="{06941D9F-B261-CAC1-4E6C-FE7964B4DF98}"/>
              </a:ext>
            </a:extLst>
          </p:cNvPr>
          <p:cNvPicPr>
            <a:picLocks noChangeAspect="1"/>
          </p:cNvPicPr>
          <p:nvPr/>
        </p:nvPicPr>
        <p:blipFill>
          <a:blip r:embed="rId2"/>
          <a:stretch>
            <a:fillRect/>
          </a:stretch>
        </p:blipFill>
        <p:spPr>
          <a:xfrm>
            <a:off x="762000" y="1310480"/>
            <a:ext cx="6248400" cy="2955983"/>
          </a:xfrm>
          <a:prstGeom prst="rect">
            <a:avLst/>
          </a:prstGeom>
        </p:spPr>
      </p:pic>
    </p:spTree>
    <p:extLst>
      <p:ext uri="{BB962C8B-B14F-4D97-AF65-F5344CB8AC3E}">
        <p14:creationId xmlns:p14="http://schemas.microsoft.com/office/powerpoint/2010/main" val="1111180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CED88-726E-F6B2-1269-3E5DB643C30A}"/>
              </a:ext>
            </a:extLst>
          </p:cNvPr>
          <p:cNvSpPr>
            <a:spLocks noGrp="1"/>
          </p:cNvSpPr>
          <p:nvPr>
            <p:ph type="title"/>
          </p:nvPr>
        </p:nvSpPr>
        <p:spPr>
          <a:xfrm>
            <a:off x="762000" y="715961"/>
            <a:ext cx="6477000" cy="612096"/>
          </a:xfrm>
        </p:spPr>
        <p:txBody>
          <a:bodyPr/>
          <a:lstStyle/>
          <a:p>
            <a:r>
              <a:rPr lang="en-US" sz="2800" dirty="0">
                <a:solidFill>
                  <a:srgbClr val="00B0F0"/>
                </a:solidFill>
              </a:rPr>
              <a:t>MLP Feature Importance Summary</a:t>
            </a:r>
          </a:p>
        </p:txBody>
      </p:sp>
      <p:pic>
        <p:nvPicPr>
          <p:cNvPr id="5" name="Picture 4">
            <a:extLst>
              <a:ext uri="{FF2B5EF4-FFF2-40B4-BE49-F238E27FC236}">
                <a16:creationId xmlns:a16="http://schemas.microsoft.com/office/drawing/2014/main" id="{59D7548F-FDEE-ED5C-41BC-5887940210ED}"/>
              </a:ext>
            </a:extLst>
          </p:cNvPr>
          <p:cNvPicPr>
            <a:picLocks noChangeAspect="1"/>
          </p:cNvPicPr>
          <p:nvPr/>
        </p:nvPicPr>
        <p:blipFill>
          <a:blip r:embed="rId2"/>
          <a:stretch>
            <a:fillRect/>
          </a:stretch>
        </p:blipFill>
        <p:spPr>
          <a:xfrm>
            <a:off x="615043" y="1186543"/>
            <a:ext cx="6770913" cy="2942361"/>
          </a:xfrm>
          <a:prstGeom prst="rect">
            <a:avLst/>
          </a:prstGeom>
        </p:spPr>
      </p:pic>
    </p:spTree>
    <p:extLst>
      <p:ext uri="{BB962C8B-B14F-4D97-AF65-F5344CB8AC3E}">
        <p14:creationId xmlns:p14="http://schemas.microsoft.com/office/powerpoint/2010/main" val="910224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30B5E-1919-C491-2668-802998A2E96D}"/>
              </a:ext>
            </a:extLst>
          </p:cNvPr>
          <p:cNvSpPr>
            <a:spLocks noGrp="1"/>
          </p:cNvSpPr>
          <p:nvPr>
            <p:ph type="title"/>
          </p:nvPr>
        </p:nvSpPr>
        <p:spPr>
          <a:xfrm>
            <a:off x="762000" y="715961"/>
            <a:ext cx="6477000" cy="731839"/>
          </a:xfrm>
        </p:spPr>
        <p:txBody>
          <a:bodyPr/>
          <a:lstStyle/>
          <a:p>
            <a:r>
              <a:rPr lang="en-US" dirty="0">
                <a:solidFill>
                  <a:srgbClr val="00B0F0"/>
                </a:solidFill>
              </a:rPr>
              <a:t>Model Evaluation</a:t>
            </a:r>
          </a:p>
        </p:txBody>
      </p:sp>
      <p:sp>
        <p:nvSpPr>
          <p:cNvPr id="3" name="Text Placeholder 2">
            <a:extLst>
              <a:ext uri="{FF2B5EF4-FFF2-40B4-BE49-F238E27FC236}">
                <a16:creationId xmlns:a16="http://schemas.microsoft.com/office/drawing/2014/main" id="{E5EF46F3-1200-75E3-1403-C6569C7ADA0D}"/>
              </a:ext>
            </a:extLst>
          </p:cNvPr>
          <p:cNvSpPr>
            <a:spLocks noGrp="1"/>
          </p:cNvSpPr>
          <p:nvPr>
            <p:ph type="body" sz="quarter" idx="11"/>
          </p:nvPr>
        </p:nvSpPr>
        <p:spPr>
          <a:xfrm>
            <a:off x="762000" y="1338943"/>
            <a:ext cx="6477000" cy="3842657"/>
          </a:xfrm>
        </p:spPr>
        <p:txBody>
          <a:bodyPr/>
          <a:lstStyle/>
          <a:p>
            <a:pPr marL="285750" indent="-285750">
              <a:buFont typeface="Arial" panose="020B0604020202020204" pitchFamily="34" charset="0"/>
              <a:buChar char="•"/>
            </a:pPr>
            <a:r>
              <a:rPr lang="en-US" sz="2400" b="0" dirty="0"/>
              <a:t>Our objective was to build a supervised machine learning model capable of predicting customer churn risk for internet service providers using behavioral, transactional, and feedback data. </a:t>
            </a:r>
          </a:p>
          <a:p>
            <a:pPr marL="285750" indent="-285750">
              <a:buFont typeface="Arial" panose="020B0604020202020204" pitchFamily="34" charset="0"/>
              <a:buChar char="•"/>
            </a:pPr>
            <a:r>
              <a:rPr lang="en-US" sz="2400" b="0" dirty="0"/>
              <a:t>We managed to build models using ensemble methods and neural networks.</a:t>
            </a:r>
          </a:p>
          <a:p>
            <a:pPr marL="285750" indent="-285750">
              <a:buFont typeface="Arial" panose="020B0604020202020204" pitchFamily="34" charset="0"/>
              <a:buChar char="•"/>
            </a:pPr>
            <a:r>
              <a:rPr lang="en-US" sz="2400" b="0" dirty="0"/>
              <a:t>The best model was XG-Boost with 93% accuracy in predicting customer churn.</a:t>
            </a:r>
          </a:p>
        </p:txBody>
      </p:sp>
    </p:spTree>
    <p:extLst>
      <p:ext uri="{BB962C8B-B14F-4D97-AF65-F5344CB8AC3E}">
        <p14:creationId xmlns:p14="http://schemas.microsoft.com/office/powerpoint/2010/main" val="1580535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55278-DAAC-5B33-ECAA-FA7CF473D282}"/>
              </a:ext>
            </a:extLst>
          </p:cNvPr>
          <p:cNvSpPr>
            <a:spLocks noGrp="1"/>
          </p:cNvSpPr>
          <p:nvPr>
            <p:ph type="title"/>
          </p:nvPr>
        </p:nvSpPr>
        <p:spPr>
          <a:xfrm>
            <a:off x="762000" y="715961"/>
            <a:ext cx="6477000" cy="601210"/>
          </a:xfrm>
        </p:spPr>
        <p:txBody>
          <a:bodyPr/>
          <a:lstStyle/>
          <a:p>
            <a:r>
              <a:rPr lang="en-US" dirty="0">
                <a:solidFill>
                  <a:srgbClr val="00B0F0"/>
                </a:solidFill>
              </a:rPr>
              <a:t>Model Deployment</a:t>
            </a:r>
            <a:br>
              <a:rPr lang="en-US" dirty="0"/>
            </a:br>
            <a:endParaRPr lang="en-US" dirty="0"/>
          </a:p>
        </p:txBody>
      </p:sp>
      <p:sp>
        <p:nvSpPr>
          <p:cNvPr id="3" name="Text Placeholder 2">
            <a:extLst>
              <a:ext uri="{FF2B5EF4-FFF2-40B4-BE49-F238E27FC236}">
                <a16:creationId xmlns:a16="http://schemas.microsoft.com/office/drawing/2014/main" id="{9B131146-29AE-30D0-F3A7-11B8EE6CB1A7}"/>
              </a:ext>
            </a:extLst>
          </p:cNvPr>
          <p:cNvSpPr>
            <a:spLocks noGrp="1"/>
          </p:cNvSpPr>
          <p:nvPr>
            <p:ph type="body" sz="quarter" idx="11"/>
          </p:nvPr>
        </p:nvSpPr>
        <p:spPr/>
        <p:txBody>
          <a:bodyPr/>
          <a:lstStyle/>
          <a:p>
            <a:pPr marL="342900" indent="-342900">
              <a:buFont typeface="Arial" panose="020B0604020202020204" pitchFamily="34" charset="0"/>
              <a:buChar char="•"/>
            </a:pPr>
            <a:r>
              <a:rPr lang="en-US" sz="2000" b="0" dirty="0"/>
              <a:t>The </a:t>
            </a:r>
            <a:r>
              <a:rPr lang="en-US" sz="2000" b="0" dirty="0" err="1"/>
              <a:t>XGBoost</a:t>
            </a:r>
            <a:r>
              <a:rPr lang="en-US" sz="2000" b="0" dirty="0"/>
              <a:t> selected as the best model was deployment through saving with </a:t>
            </a:r>
            <a:r>
              <a:rPr lang="en-US" sz="2000" b="0" dirty="0" err="1"/>
              <a:t>joblib</a:t>
            </a:r>
            <a:r>
              <a:rPr lang="en-US" sz="2000" b="0" dirty="0"/>
              <a:t>, and served through a Flask API. </a:t>
            </a:r>
          </a:p>
          <a:p>
            <a:pPr marL="342900" indent="-342900">
              <a:buFont typeface="Arial" panose="020B0604020202020204" pitchFamily="34" charset="0"/>
              <a:buChar char="•"/>
            </a:pPr>
            <a:r>
              <a:rPr lang="en-US" sz="2000" b="0" dirty="0"/>
              <a:t>The model is loaded into the app, which exposes a predict route that accepts JSON input and returns predictions.</a:t>
            </a:r>
          </a:p>
          <a:p>
            <a:pPr marL="342900" indent="-342900">
              <a:buFont typeface="Arial" panose="020B0604020202020204" pitchFamily="34" charset="0"/>
              <a:buChar char="•"/>
            </a:pPr>
            <a:r>
              <a:rPr lang="en-US" sz="2000" b="0" dirty="0"/>
              <a:t> This setup enables quick and efficient model deployment as a web service, testable via tools like Postman or curl.</a:t>
            </a:r>
          </a:p>
        </p:txBody>
      </p:sp>
    </p:spTree>
    <p:extLst>
      <p:ext uri="{BB962C8B-B14F-4D97-AF65-F5344CB8AC3E}">
        <p14:creationId xmlns:p14="http://schemas.microsoft.com/office/powerpoint/2010/main" val="388900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180D6-D7D9-B85C-BCF4-F41D4D36F812}"/>
              </a:ext>
            </a:extLst>
          </p:cNvPr>
          <p:cNvSpPr>
            <a:spLocks noGrp="1"/>
          </p:cNvSpPr>
          <p:nvPr>
            <p:ph type="title"/>
          </p:nvPr>
        </p:nvSpPr>
        <p:spPr>
          <a:xfrm>
            <a:off x="762000" y="715961"/>
            <a:ext cx="6477000" cy="666525"/>
          </a:xfrm>
        </p:spPr>
        <p:txBody>
          <a:bodyPr/>
          <a:lstStyle/>
          <a:p>
            <a:r>
              <a:rPr lang="en-US" sz="2800" dirty="0">
                <a:solidFill>
                  <a:srgbClr val="00B0F0"/>
                </a:solidFill>
              </a:rPr>
              <a:t>Project Results Summary</a:t>
            </a:r>
            <a:br>
              <a:rPr lang="en-US" sz="2800" dirty="0">
                <a:solidFill>
                  <a:srgbClr val="00B0F0"/>
                </a:solidFill>
              </a:rPr>
            </a:br>
            <a:endParaRPr lang="en-US" sz="2800" dirty="0">
              <a:solidFill>
                <a:srgbClr val="00B0F0"/>
              </a:solidFill>
            </a:endParaRPr>
          </a:p>
        </p:txBody>
      </p:sp>
      <p:sp>
        <p:nvSpPr>
          <p:cNvPr id="3" name="Text Placeholder 2">
            <a:extLst>
              <a:ext uri="{FF2B5EF4-FFF2-40B4-BE49-F238E27FC236}">
                <a16:creationId xmlns:a16="http://schemas.microsoft.com/office/drawing/2014/main" id="{3188E6BE-EC00-F727-FB15-FF507542DB62}"/>
              </a:ext>
            </a:extLst>
          </p:cNvPr>
          <p:cNvSpPr>
            <a:spLocks noGrp="1"/>
          </p:cNvSpPr>
          <p:nvPr>
            <p:ph type="body" sz="quarter" idx="11"/>
          </p:nvPr>
        </p:nvSpPr>
        <p:spPr>
          <a:xfrm>
            <a:off x="762000" y="1273629"/>
            <a:ext cx="6477000" cy="4212771"/>
          </a:xfrm>
        </p:spPr>
        <p:txBody>
          <a:bodyPr/>
          <a:lstStyle/>
          <a:p>
            <a:pPr marL="285750" indent="-285750">
              <a:buFont typeface="Arial" panose="020B0604020202020204" pitchFamily="34" charset="0"/>
              <a:buChar char="•"/>
            </a:pPr>
            <a:r>
              <a:rPr lang="en-US" b="0" dirty="0"/>
              <a:t>Basic Membership holders have the highest likelihood of churning. As membership tiers increase (Silver, Gold, Premium, Platinum), the churn risk significantly drops. This points to membership level being a major driver of customer retention.</a:t>
            </a:r>
          </a:p>
          <a:p>
            <a:pPr marL="285750" indent="-285750">
              <a:buFont typeface="Arial" panose="020B0604020202020204" pitchFamily="34" charset="0"/>
              <a:buChar char="•"/>
            </a:pPr>
            <a:r>
              <a:rPr lang="en-US" b="0" dirty="0"/>
              <a:t>From a demographic perspective, customers living in City regions have the highest average churn risk, followed by Towns, with Villages having the lowest risk. </a:t>
            </a:r>
          </a:p>
          <a:p>
            <a:pPr marL="285750" indent="-285750">
              <a:buFont typeface="Arial" panose="020B0604020202020204" pitchFamily="34" charset="0"/>
              <a:buChar char="•"/>
            </a:pPr>
            <a:r>
              <a:rPr lang="en-US" b="0" dirty="0"/>
              <a:t>We found that just having a recorded complaint, regardless of whether it was resolved, is linked to higher churn risk.</a:t>
            </a:r>
          </a:p>
          <a:p>
            <a:pPr marL="285750" indent="-285750">
              <a:buFont typeface="Arial" panose="020B0604020202020204" pitchFamily="34" charset="0"/>
              <a:buChar char="•"/>
            </a:pPr>
            <a:r>
              <a:rPr lang="en-US" b="0" dirty="0"/>
              <a:t>Non-churning customers tend to cluster around wallet point values of 500–1000, suggesting that these thresholds might align with retention-boosting benefits</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2091394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43C19-7856-98F5-D70D-2F74744ED221}"/>
              </a:ext>
            </a:extLst>
          </p:cNvPr>
          <p:cNvSpPr>
            <a:spLocks noGrp="1"/>
          </p:cNvSpPr>
          <p:nvPr>
            <p:ph type="title"/>
          </p:nvPr>
        </p:nvSpPr>
        <p:spPr/>
        <p:txBody>
          <a:bodyPr/>
          <a:lstStyle/>
          <a:p>
            <a:r>
              <a:rPr lang="en-US" sz="2800" dirty="0">
                <a:solidFill>
                  <a:srgbClr val="00B0F0"/>
                </a:solidFill>
              </a:rPr>
              <a:t>Recommendations to ISPs</a:t>
            </a:r>
          </a:p>
        </p:txBody>
      </p:sp>
      <p:sp>
        <p:nvSpPr>
          <p:cNvPr id="3" name="Text Placeholder 2">
            <a:extLst>
              <a:ext uri="{FF2B5EF4-FFF2-40B4-BE49-F238E27FC236}">
                <a16:creationId xmlns:a16="http://schemas.microsoft.com/office/drawing/2014/main" id="{83A3AC98-A2CC-A068-EBA8-4A9BB9710F50}"/>
              </a:ext>
            </a:extLst>
          </p:cNvPr>
          <p:cNvSpPr>
            <a:spLocks noGrp="1"/>
          </p:cNvSpPr>
          <p:nvPr>
            <p:ph type="body" sz="quarter" idx="11"/>
          </p:nvPr>
        </p:nvSpPr>
        <p:spPr>
          <a:xfrm>
            <a:off x="762000" y="1328057"/>
            <a:ext cx="6477000" cy="4419600"/>
          </a:xfrm>
        </p:spPr>
        <p:txBody>
          <a:bodyPr/>
          <a:lstStyle/>
          <a:p>
            <a:pPr marL="285750" indent="-285750">
              <a:buFont typeface="Arial" panose="020B0604020202020204" pitchFamily="34" charset="0"/>
              <a:buChar char="•"/>
            </a:pPr>
            <a:r>
              <a:rPr lang="en-US" b="0" dirty="0"/>
              <a:t>Encourage membership upgrades by offering exclusive perks or discounts for higher-tier plans.</a:t>
            </a:r>
          </a:p>
          <a:p>
            <a:pPr marL="285750" indent="-285750">
              <a:buFont typeface="Arial" panose="020B0604020202020204" pitchFamily="34" charset="0"/>
              <a:buChar char="•"/>
            </a:pPr>
            <a:r>
              <a:rPr lang="en-US" b="0" dirty="0"/>
              <a:t>Improve the complaint resolution experience through fast resolution and follow up to enhance customer satisfaction</a:t>
            </a:r>
          </a:p>
          <a:p>
            <a:pPr marL="285750" indent="-285750">
              <a:buFont typeface="Arial" panose="020B0604020202020204" pitchFamily="34" charset="0"/>
              <a:buChar char="•"/>
            </a:pPr>
            <a:r>
              <a:rPr lang="en-US" b="0" dirty="0"/>
              <a:t>Introduce incentives such as tiered rewards, point boosters, and milestone badges to increase wallet point engagement.</a:t>
            </a:r>
          </a:p>
          <a:p>
            <a:pPr marL="285750" indent="-285750">
              <a:buFont typeface="Arial" panose="020B0604020202020204" pitchFamily="34" charset="0"/>
              <a:buChar char="•"/>
            </a:pPr>
            <a:r>
              <a:rPr lang="en-US" b="0" dirty="0"/>
              <a:t>Use churn-risk predictions to trigger targeted ad campaigns such as special offers, call-backs, or targeted emails.</a:t>
            </a:r>
          </a:p>
          <a:p>
            <a:pPr marL="285750" indent="-285750">
              <a:buFont typeface="Arial" panose="020B0604020202020204" pitchFamily="34" charset="0"/>
              <a:buChar char="•"/>
            </a:pPr>
            <a:r>
              <a:rPr lang="en-US" b="0" dirty="0"/>
              <a:t>Focus retention efforts in city and town regions where churn risk is higher, possibly with local partnerships or targeted discounts.</a:t>
            </a:r>
          </a:p>
        </p:txBody>
      </p:sp>
    </p:spTree>
    <p:extLst>
      <p:ext uri="{BB962C8B-B14F-4D97-AF65-F5344CB8AC3E}">
        <p14:creationId xmlns:p14="http://schemas.microsoft.com/office/powerpoint/2010/main" val="3154685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720B2-0797-283F-71A1-3824A74EB989}"/>
              </a:ext>
            </a:extLst>
          </p:cNvPr>
          <p:cNvSpPr>
            <a:spLocks noGrp="1"/>
          </p:cNvSpPr>
          <p:nvPr>
            <p:ph type="title"/>
          </p:nvPr>
        </p:nvSpPr>
        <p:spPr/>
        <p:txBody>
          <a:bodyPr/>
          <a:lstStyle/>
          <a:p>
            <a:r>
              <a:rPr lang="en-US" dirty="0">
                <a:solidFill>
                  <a:srgbClr val="00B0F0"/>
                </a:solidFill>
              </a:rPr>
              <a:t>End of Presentation</a:t>
            </a:r>
          </a:p>
        </p:txBody>
      </p:sp>
      <p:sp>
        <p:nvSpPr>
          <p:cNvPr id="3" name="Text Placeholder 2">
            <a:extLst>
              <a:ext uri="{FF2B5EF4-FFF2-40B4-BE49-F238E27FC236}">
                <a16:creationId xmlns:a16="http://schemas.microsoft.com/office/drawing/2014/main" id="{B0CB81FD-8547-60DD-82AF-5C1CF0686794}"/>
              </a:ext>
            </a:extLst>
          </p:cNvPr>
          <p:cNvSpPr>
            <a:spLocks noGrp="1"/>
          </p:cNvSpPr>
          <p:nvPr>
            <p:ph type="body" sz="quarter" idx="11"/>
          </p:nvPr>
        </p:nvSpPr>
        <p:spPr/>
        <p:txBody>
          <a:bodyPr/>
          <a:lstStyle/>
          <a:p>
            <a:pPr algn="ctr"/>
            <a:r>
              <a:rPr lang="en-US" sz="4000" dirty="0"/>
              <a:t>Thank You </a:t>
            </a:r>
          </a:p>
        </p:txBody>
      </p:sp>
    </p:spTree>
    <p:extLst>
      <p:ext uri="{BB962C8B-B14F-4D97-AF65-F5344CB8AC3E}">
        <p14:creationId xmlns:p14="http://schemas.microsoft.com/office/powerpoint/2010/main" val="625908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A36B3A-558B-413E-877B-7275290AB783}"/>
              </a:ext>
            </a:extLst>
          </p:cNvPr>
          <p:cNvSpPr>
            <a:spLocks noGrp="1"/>
          </p:cNvSpPr>
          <p:nvPr>
            <p:ph type="title"/>
          </p:nvPr>
        </p:nvSpPr>
        <p:spPr>
          <a:xfrm>
            <a:off x="5199742" y="715961"/>
            <a:ext cx="6477000" cy="1189037"/>
          </a:xfrm>
        </p:spPr>
        <p:txBody>
          <a:bodyPr/>
          <a:lstStyle/>
          <a:p>
            <a:r>
              <a:rPr lang="en-US" dirty="0"/>
              <a:t>Presentation Prepared by:</a:t>
            </a:r>
          </a:p>
        </p:txBody>
      </p:sp>
      <p:sp>
        <p:nvSpPr>
          <p:cNvPr id="3" name="Text Placeholder 2">
            <a:extLst>
              <a:ext uri="{FF2B5EF4-FFF2-40B4-BE49-F238E27FC236}">
                <a16:creationId xmlns:a16="http://schemas.microsoft.com/office/drawing/2014/main" id="{68675CE5-70A2-411D-881E-7B75B82931F4}"/>
              </a:ext>
            </a:extLst>
          </p:cNvPr>
          <p:cNvSpPr>
            <a:spLocks noGrp="1"/>
          </p:cNvSpPr>
          <p:nvPr>
            <p:ph type="body" sz="quarter" idx="11"/>
          </p:nvPr>
        </p:nvSpPr>
        <p:spPr>
          <a:xfrm>
            <a:off x="5199743" y="1458686"/>
            <a:ext cx="6477000" cy="3722914"/>
          </a:xfrm>
        </p:spPr>
        <p:txBody>
          <a:bodyPr/>
          <a:lstStyle/>
          <a:p>
            <a:r>
              <a:rPr lang="en-US" altLang="en-US" sz="2400" b="0" dirty="0"/>
              <a:t>Group 9 Members;</a:t>
            </a:r>
          </a:p>
          <a:p>
            <a:pPr lvl="1"/>
            <a:r>
              <a:rPr lang="fr-FR" sz="2400" dirty="0"/>
              <a:t>Jane </a:t>
            </a:r>
            <a:r>
              <a:rPr lang="fr-FR" sz="2400" dirty="0" err="1"/>
              <a:t>Bahati</a:t>
            </a:r>
            <a:endParaRPr lang="fr-FR" sz="2400" dirty="0"/>
          </a:p>
          <a:p>
            <a:pPr lvl="1"/>
            <a:r>
              <a:rPr lang="fr-FR" sz="2400" dirty="0" err="1"/>
              <a:t>Wambui</a:t>
            </a:r>
            <a:r>
              <a:rPr lang="fr-FR" sz="2400" dirty="0"/>
              <a:t> Kariuki</a:t>
            </a:r>
          </a:p>
          <a:p>
            <a:pPr lvl="1"/>
            <a:r>
              <a:rPr lang="fr-FR" sz="2400" dirty="0"/>
              <a:t>Japhet Cheboiywo</a:t>
            </a:r>
          </a:p>
          <a:p>
            <a:pPr lvl="1"/>
            <a:r>
              <a:rPr lang="fr-FR" sz="2400" dirty="0"/>
              <a:t>Gladys Njeri</a:t>
            </a:r>
          </a:p>
          <a:p>
            <a:pPr lvl="1"/>
            <a:r>
              <a:rPr lang="fr-FR" sz="2400" dirty="0"/>
              <a:t>Humphrey </a:t>
            </a:r>
            <a:r>
              <a:rPr lang="fr-FR" sz="2400" dirty="0" err="1"/>
              <a:t>Matagaro</a:t>
            </a:r>
            <a:endParaRPr lang="fr-FR" sz="2400" dirty="0"/>
          </a:p>
          <a:p>
            <a:pPr lvl="1"/>
            <a:r>
              <a:rPr lang="fr-FR" sz="2400" dirty="0"/>
              <a:t>Brenda </a:t>
            </a:r>
            <a:r>
              <a:rPr lang="fr-FR" sz="2400" dirty="0" err="1"/>
              <a:t>Kurgat</a:t>
            </a:r>
            <a:endParaRPr lang="fr-FR" sz="2400" dirty="0"/>
          </a:p>
          <a:p>
            <a:endParaRPr lang="en-US" b="0" dirty="0"/>
          </a:p>
        </p:txBody>
      </p:sp>
    </p:spTree>
    <p:extLst>
      <p:ext uri="{BB962C8B-B14F-4D97-AF65-F5344CB8AC3E}">
        <p14:creationId xmlns:p14="http://schemas.microsoft.com/office/powerpoint/2010/main" val="3366527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117">
      <a:dk1>
        <a:sysClr val="windowText" lastClr="000000"/>
      </a:dk1>
      <a:lt1>
        <a:sysClr val="window" lastClr="FFFFFF"/>
      </a:lt1>
      <a:dk2>
        <a:srgbClr val="44546A"/>
      </a:dk2>
      <a:lt2>
        <a:srgbClr val="E7E6E6"/>
      </a:lt2>
      <a:accent1>
        <a:srgbClr val="E23042"/>
      </a:accent1>
      <a:accent2>
        <a:srgbClr val="3578AF"/>
      </a:accent2>
      <a:accent3>
        <a:srgbClr val="C4C4C4"/>
      </a:accent3>
      <a:accent4>
        <a:srgbClr val="A80B22"/>
      </a:accent4>
      <a:accent5>
        <a:srgbClr val="E2E2E2"/>
      </a:accent5>
      <a:accent6>
        <a:srgbClr val="2A6187"/>
      </a:accent6>
      <a:hlink>
        <a:srgbClr val="0563C1"/>
      </a:hlink>
      <a:folHlink>
        <a:srgbClr val="954F72"/>
      </a:folHlink>
    </a:clrScheme>
    <a:fontScheme name="Custom 8">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ewish American Heritage Month_Win32_JC_SL_v3" id="{5A91364D-DD38-4994-BB9C-41D074FD197A}" vid="{8577DF34-D72C-48EB-902A-0A54C766E05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5C1F8C-D27A-4CE7-9DF4-4AFDB2880FA9}">
  <ds:schemaRefs>
    <ds:schemaRef ds:uri="http://schemas.microsoft.com/sharepoint/v3/contenttype/forms"/>
  </ds:schemaRefs>
</ds:datastoreItem>
</file>

<file path=customXml/itemProps2.xml><?xml version="1.0" encoding="utf-8"?>
<ds:datastoreItem xmlns:ds="http://schemas.openxmlformats.org/officeDocument/2006/customXml" ds:itemID="{FDF283A3-AA81-4663-8764-64F64C723FD1}">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D4EE2DFF-920A-42C9-AEE0-3A0BF6AF46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e396689-5035-49e0-be07-7dfa8fa9a49e}" enabled="1" method="Privileged" siteId="{74347ffe-8392-4a6f-9cd2-4d7371e222a1}" contentBits="0" removed="0"/>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Jewish American Heritage Month presentation</Template>
  <TotalTime>942</TotalTime>
  <Words>1619</Words>
  <Application>Microsoft Office PowerPoint</Application>
  <PresentationFormat>Widescreen</PresentationFormat>
  <Paragraphs>106</Paragraphs>
  <Slides>31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Abadi</vt:lpstr>
      <vt:lpstr>Aptos</vt:lpstr>
      <vt:lpstr>Arial</vt:lpstr>
      <vt:lpstr>system-ui</vt:lpstr>
      <vt:lpstr>Office Theme</vt:lpstr>
      <vt:lpstr>Modelling Customer Churn for Internet Service Provider</vt:lpstr>
      <vt:lpstr>Introduction</vt:lpstr>
      <vt:lpstr>Problem Statement </vt:lpstr>
      <vt:lpstr>Research Objectives </vt:lpstr>
      <vt:lpstr>Research Methodology  </vt:lpstr>
      <vt:lpstr>Data Understanding  </vt:lpstr>
      <vt:lpstr>Data Understanding  </vt:lpstr>
      <vt:lpstr>Modelling  </vt:lpstr>
      <vt:lpstr>PowerPoint Presentation</vt:lpstr>
      <vt:lpstr>PowerPoint Presentation</vt:lpstr>
      <vt:lpstr>Logistic Regression Findings </vt:lpstr>
      <vt:lpstr>Random Forest Model</vt:lpstr>
      <vt:lpstr>Random Forest Output</vt:lpstr>
      <vt:lpstr>Confusion Matrix </vt:lpstr>
      <vt:lpstr>Which variables are the highest predictors of churn?</vt:lpstr>
      <vt:lpstr>PowerPoint Presentation</vt:lpstr>
      <vt:lpstr>XG Boost Model</vt:lpstr>
      <vt:lpstr>XG Boost Model</vt:lpstr>
      <vt:lpstr>Confusion Matrix</vt:lpstr>
      <vt:lpstr>PowerPoint Presentation</vt:lpstr>
      <vt:lpstr>Xg-Boost Feature Importance analysis</vt:lpstr>
      <vt:lpstr>XG-Boost Model inculcating RandomizedSearchCV </vt:lpstr>
      <vt:lpstr>Multilayer Perceptron Neural Network Model (MLP)</vt:lpstr>
      <vt:lpstr>Model Output</vt:lpstr>
      <vt:lpstr>MLP Feature Importance Summary</vt:lpstr>
      <vt:lpstr>Model Evaluation</vt:lpstr>
      <vt:lpstr>Model Deployment </vt:lpstr>
      <vt:lpstr>Project Results Summary </vt:lpstr>
      <vt:lpstr>Recommendations to ISPs</vt:lpstr>
      <vt:lpstr>End of Presentation</vt:lpstr>
      <vt:lpstr>Presentation Prepared by:</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Japhet Kibet Cheboiywo</dc:creator>
  <cp:keywords/>
  <dc:description/>
  <cp:lastModifiedBy>Japhet Kibet Cheboiywo</cp:lastModifiedBy>
  <cp:revision>13</cp:revision>
  <dcterms:created xsi:type="dcterms:W3CDTF">2025-06-02T15:18:50Z</dcterms:created>
  <dcterms:modified xsi:type="dcterms:W3CDTF">2025-06-03T16:38:53Z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